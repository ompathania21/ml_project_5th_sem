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Calibri"/>
              </a:defRPr>
            </a:pPr>
            <a:r>
              <a:rPr sz="1300" b="0" i="0" u="none" strike="noStrike">
                <a:solidFill>
                  <a:srgbClr val="1A1A1A"/>
                </a:solidFill>
                <a:latin typeface="Calibri"/>
              </a:rPr>
              <a:t>Global sales by release year (millions of units)</a:t>
            </a:r>
          </a:p>
        </c:rich>
      </c:tx>
      <c:layout/>
      <c:overlay val="0"/>
    </c:title>
    <c:autoTitleDeleted val="0"/>
    <c:plotArea>
      <c:layout/>
      <c:lineChart>
        <c:varyColors val="0"/>
        <c:ser>
          <c:idx val="0"/>
          <c:order val="0"/>
          <c:tx>
            <c:strRef>
              <c:f>Sheet1!$B$1</c:f>
              <c:strCache>
                <c:ptCount val="1"/>
                <c:pt idx="0">
                  <c:v>Global sales (M)</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lvl>
              </c:multiLvlStrCache>
            </c:multiLvlStrRef>
          </c:cat>
          <c:val>
            <c:numRef>
              <c:f>Sheet1!$B$2:$B$38</c:f>
              <c:numCache>
                <c:formatCode>General</c:formatCode>
                <c:ptCount val="37"/>
                <c:pt idx="0">
                  <c:v>11.4</c:v>
                </c:pt>
                <c:pt idx="1">
                  <c:v>35.8</c:v>
                </c:pt>
                <c:pt idx="2">
                  <c:v>28.9</c:v>
                </c:pt>
                <c:pt idx="3">
                  <c:v>16.8</c:v>
                </c:pt>
                <c:pt idx="4">
                  <c:v>50.4</c:v>
                </c:pt>
                <c:pt idx="5">
                  <c:v>53.9</c:v>
                </c:pt>
                <c:pt idx="6">
                  <c:v>37.1</c:v>
                </c:pt>
                <c:pt idx="7">
                  <c:v>21.7</c:v>
                </c:pt>
                <c:pt idx="8">
                  <c:v>47.2</c:v>
                </c:pt>
                <c:pt idx="9">
                  <c:v>73.4</c:v>
                </c:pt>
                <c:pt idx="10">
                  <c:v>49.4</c:v>
                </c:pt>
                <c:pt idx="11">
                  <c:v>32.2</c:v>
                </c:pt>
                <c:pt idx="12">
                  <c:v>76.2</c:v>
                </c:pt>
                <c:pt idx="13">
                  <c:v>46</c:v>
                </c:pt>
                <c:pt idx="14">
                  <c:v>79.2</c:v>
                </c:pt>
                <c:pt idx="15">
                  <c:v>88.1</c:v>
                </c:pt>
                <c:pt idx="16">
                  <c:v>199.2</c:v>
                </c:pt>
                <c:pt idx="17">
                  <c:v>201</c:v>
                </c:pt>
                <c:pt idx="18">
                  <c:v>256.5</c:v>
                </c:pt>
                <c:pt idx="19">
                  <c:v>251.3</c:v>
                </c:pt>
                <c:pt idx="20">
                  <c:v>201.6</c:v>
                </c:pt>
                <c:pt idx="21">
                  <c:v>331.5</c:v>
                </c:pt>
                <c:pt idx="22">
                  <c:v>395.5</c:v>
                </c:pt>
                <c:pt idx="23">
                  <c:v>357.8</c:v>
                </c:pt>
                <c:pt idx="24">
                  <c:v>419.3</c:v>
                </c:pt>
                <c:pt idx="25">
                  <c:v>459.9</c:v>
                </c:pt>
                <c:pt idx="26">
                  <c:v>521</c:v>
                </c:pt>
                <c:pt idx="27">
                  <c:v>611.1</c:v>
                </c:pt>
                <c:pt idx="28">
                  <c:v>678.9</c:v>
                </c:pt>
                <c:pt idx="29">
                  <c:v>667.3</c:v>
                </c:pt>
                <c:pt idx="30">
                  <c:v>600.4</c:v>
                </c:pt>
                <c:pt idx="31">
                  <c:v>516</c:v>
                </c:pt>
                <c:pt idx="32">
                  <c:v>363.5</c:v>
                </c:pt>
                <c:pt idx="33">
                  <c:v>368.1</c:v>
                </c:pt>
                <c:pt idx="34">
                  <c:v>337</c:v>
                </c:pt>
                <c:pt idx="35">
                  <c:v>264.4</c:v>
                </c:pt>
                <c:pt idx="36">
                  <c:v>70.9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1E0D9"/>
            </a:solidFill>
            <a:prstDash val="solid"/>
            <a:round/>
          </a:ln>
        </c:spPr>
        <c:txPr>
          <a:bodyPr/>
          <a:lstStyle/>
          <a:p>
            <a:pPr>
              <a:defRPr sz="1000" b="0" i="0" u="none" strike="noStrike">
                <a:solidFill>
                  <a:srgbClr val="52514E"/>
                </a:solidFill>
                <a:latin typeface="Calibri"/>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2514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Calibri"/>
              </a:defRPr>
            </a:pPr>
            <a:r>
              <a:rPr sz="1300" b="0" i="0" u="none" strike="noStrike">
                <a:solidFill>
                  <a:srgbClr val="1A1A1A"/>
                </a:solidFill>
                <a:latin typeface="Calibri"/>
              </a:rPr>
              <a:t>Test RMSE in MW (lower is better)</a:t>
            </a:r>
          </a:p>
        </c:rich>
      </c:tx>
      <c:layout/>
      <c:overlay val="0"/>
    </c:title>
    <c:autoTitleDeleted val="0"/>
    <c:plotArea>
      <c:layout/>
      <c:barChart>
        <c:barDir val="bar"/>
        <c:grouping val="stacked"/>
        <c:varyColors val="0"/>
        <c:ser>
          <c:idx val="0"/>
          <c:order val="0"/>
          <c:tx>
            <c:strRef>
              <c:f>Sheet1!$B$1</c:f>
              <c:strCache>
                <c:ptCount val="1"/>
                <c:pt idx="0">
                  <c:v>Other models</c:v>
                </c:pt>
              </c:strCache>
            </c:strRef>
          </c:tx>
          <c:spPr>
            <a:solidFill>
              <a:srgbClr val="2A78D6"/>
            </a:solidFill>
            <a:effectLst/>
          </c:spPr>
          <c:invertIfNegative val="0"/>
          <c:dLbls>
            <c:numFmt formatCode="0.00;;"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Sheet1!$A$2:$A$12</c:f>
              <c:multiLvlStrCache>
                <c:ptCount val="11"/>
                <c:lvl>
                  <c:pt idx="0">
                    <c:v>Linear Regression</c:v>
                  </c:pt>
                  <c:pt idx="1">
                    <c:v>Ridge (α=1)</c:v>
                  </c:pt>
                  <c:pt idx="2">
                    <c:v>Lasso (α=0.01)</c:v>
                  </c:pt>
                  <c:pt idx="3">
                    <c:v>Polynomial (deg 3)</c:v>
                  </c:pt>
                  <c:pt idx="4">
                    <c:v>SVR (RBF)</c:v>
                  </c:pt>
                  <c:pt idx="5">
                    <c:v>Decision Tree</c:v>
                  </c:pt>
                  <c:pt idx="6">
                    <c:v>KNN (k=7)</c:v>
                  </c:pt>
                  <c:pt idx="7">
                    <c:v>Random Forest</c:v>
                  </c:pt>
                  <c:pt idx="8">
                    <c:v>Gradient Boosting</c:v>
                  </c:pt>
                  <c:pt idx="9">
                    <c:v>XGBoost</c:v>
                  </c:pt>
                  <c:pt idx="10">
                    <c:v>XGBoost (tuned)</c:v>
                  </c:pt>
                </c:lvl>
              </c:multiLvlStrCache>
            </c:multiLvlStrRef>
          </c:cat>
          <c:val>
            <c:numRef>
              <c:f>Sheet1!$B$2:$B$12</c:f>
              <c:numCache>
                <c:formatCode>General</c:formatCode>
                <c:ptCount val="11"/>
                <c:pt idx="0">
                  <c:v>4.587499007655297</c:v>
                </c:pt>
                <c:pt idx="1">
                  <c:v>4.587459744279675</c:v>
                </c:pt>
                <c:pt idx="2">
                  <c:v>4.587363920282187</c:v>
                </c:pt>
                <c:pt idx="3">
                  <c:v>4.233682710764136</c:v>
                </c:pt>
                <c:pt idx="4">
                  <c:v>4.0771383180903715</c:v>
                </c:pt>
                <c:pt idx="5">
                  <c:v>4.075415340262816</c:v>
                </c:pt>
                <c:pt idx="6">
                  <c:v>3.750276396720216</c:v>
                </c:pt>
                <c:pt idx="7">
                  <c:v>3.434117584478518</c:v>
                </c:pt>
                <c:pt idx="8">
                  <c:v>3.403535675481543</c:v>
                </c:pt>
                <c:pt idx="9">
                  <c:v>3.2820916287469837</c:v>
                </c:pt>
                <c:pt idx="10">
                  <c:v>0</c:v>
                </c:pt>
              </c:numCache>
            </c:numRef>
          </c:val>
        </c:ser>
        <c:ser>
          <c:idx val="1"/>
          <c:order val="1"/>
          <c:tx>
            <c:strRef>
              <c:f>Sheet1!$C$1</c:f>
              <c:strCache>
                <c:ptCount val="1"/>
                <c:pt idx="0">
                  <c:v>Best</c:v>
                </c:pt>
              </c:strCache>
            </c:strRef>
          </c:tx>
          <c:spPr>
            <a:solidFill>
              <a:srgbClr val="EB6834"/>
            </a:solidFill>
            <a:effectLst/>
          </c:spPr>
          <c:invertIfNegative val="0"/>
          <c:dLbls>
            <c:numFmt formatCode="0.00;;"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Sheet1!$A$2:$A$12</c:f>
              <c:multiLvlStrCache>
                <c:ptCount val="11"/>
                <c:lvl>
                  <c:pt idx="0">
                    <c:v>Linear Regression</c:v>
                  </c:pt>
                  <c:pt idx="1">
                    <c:v>Ridge (α=1)</c:v>
                  </c:pt>
                  <c:pt idx="2">
                    <c:v>Lasso (α=0.01)</c:v>
                  </c:pt>
                  <c:pt idx="3">
                    <c:v>Polynomial (deg 3)</c:v>
                  </c:pt>
                  <c:pt idx="4">
                    <c:v>SVR (RBF)</c:v>
                  </c:pt>
                  <c:pt idx="5">
                    <c:v>Decision Tree</c:v>
                  </c:pt>
                  <c:pt idx="6">
                    <c:v>KNN (k=7)</c:v>
                  </c:pt>
                  <c:pt idx="7">
                    <c:v>Random Forest</c:v>
                  </c:pt>
                  <c:pt idx="8">
                    <c:v>Gradient Boosting</c:v>
                  </c:pt>
                  <c:pt idx="9">
                    <c:v>XGBoost</c:v>
                  </c:pt>
                  <c:pt idx="10">
                    <c:v>XGBoost (tuned)</c:v>
                  </c:pt>
                </c:lvl>
              </c:multiLvlStrCache>
            </c:multiLvlStrRef>
          </c:cat>
          <c:val>
            <c:numRef>
              <c:f>Sheet1!$C$2:$C$12</c:f>
              <c:numCache>
                <c:formatCode>General</c:formatCode>
                <c:ptCount val="11"/>
                <c:pt idx="0">
                  <c:v>0</c:v>
                </c:pt>
                <c:pt idx="1">
                  <c:v>0</c:v>
                </c:pt>
                <c:pt idx="2">
                  <c:v>0</c:v>
                </c:pt>
                <c:pt idx="3">
                  <c:v>0</c:v>
                </c:pt>
                <c:pt idx="4">
                  <c:v>0</c:v>
                </c:pt>
                <c:pt idx="5">
                  <c:v>0</c:v>
                </c:pt>
                <c:pt idx="6">
                  <c:v>0</c:v>
                </c:pt>
                <c:pt idx="7">
                  <c:v>0</c:v>
                </c:pt>
                <c:pt idx="8">
                  <c:v>0</c:v>
                </c:pt>
                <c:pt idx="9">
                  <c:v>0</c:v>
                </c:pt>
                <c:pt idx="10">
                  <c:v>3.171132334237709</c:v>
                </c:pt>
              </c:numCache>
            </c:numRef>
          </c:val>
        </c:ser>
        <c:dLbls>
          <c:numFmt formatCode="0.00;;"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1E0D9"/>
            </a:solidFill>
            <a:prstDash val="solid"/>
            <a:round/>
          </a:ln>
        </c:spPr>
        <c:txPr>
          <a:bodyPr/>
          <a:lstStyle/>
          <a:p>
            <a:pPr>
              <a:defRPr sz="1100" b="0" i="0" u="none" strike="noStrike">
                <a:solidFill>
                  <a:srgbClr val="52514E"/>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1E0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statement. One line: we study the digital economy from two sides, app/game markets (EDA) and a bank's direct-marketing campaign (classification), plus a regression benchmark on power plant output. Total talk: 10 minutes, about 35-40 seconds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app stores and games are crowded, hit-driven markets, so knowing what drives installs/ratings guides product decisions. Banks waste most outbound calls: 89% of clients say no. Predicting who will say yes before calling saves cost. The regression task shows the same pipeline on a continuous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source, size, target and why each dataset suits its task. Stress that the Play Store data is deliberately messy (good for EDA), CCPP is clean sensor data (good benchmark for regressors), and Bank Marketing is imbalanced (tests metric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problem we found and how we fixed it. Key point: missing ratings are NOT random. 92% belong to apps with ≤1,000 installs, so imputing the mean would invent fake scores; we keep them as missing for rating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one per chart. (1) Supply is not demand: Family has the most apps, but Game and Communication get the most installs. (2) Free apps are 92% of the store and get 100x the median installs. (3) Apps updated recently are rated higher, so maintenance matters. Also mention: reviews track installs almost perfectly (rho 0.97).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dropped 271 games with no year and cut at 2016 (2017/2020 have only 4 games; the data was scraped in 2016). The chart shows growth from the mid-90s to a 2008 peak, then decline. Part of the decline is real (shift to mobile and digital sales), part is because this dataset only counts boxed retail copies. Sales are extremely skewed.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 America is half the market and moves together with global sales (r 0.94). Japan is different (r 0.61): Role-Playing is its number one genre, and 38% of all RPG sales come from Japan, while Shooters are 56% North American. Business meaning: localise the genre mix per region rather than one global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PE is net hourly electrical output in MW. Temperature and exhaust vacuum are strongly negative and almost linear; pressure and humidity are weak. AT and V are correlated (VIF 6.0 and 3.9): moderate multicollinearity, fine for prediction. Pipeline: scaling happens inside the pipeline so the test data never leaks into training. We compared 10 model families with 5-fold CV and tuned the best family with GridSearchCV.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important design decision: we DROPPED 'duration' (call length). It's the most correlated feature, but it's only known after the call ends, so a model using it can't be used to decide whom to call. That's target leakage. The target is imbalanced (11% yes), so we compared three fixes: class weights, SMOTE inside CV folds, and tuning the decision threshold on out-of-fold training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11 models were evaluated with 5-fold CV and on the held-out test set. Linear models already reach R² 0.93 because AT and V act almost linearly. Ridge and Lasso equal plain linear regression: with 4 features there is nothing to regularise. Tree ensembles win by capturing curvature and interactions. CV R² ≈ test R² with tiny std, so the ranking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from the bottom: the baseline and unweighted models (plain Logistic Regression, Gradient Boosting, KNN) look accurate but miss 75-80% of subscribers. Class weights or SMOTE roughly triple recall. XGBoost with class weights has the best ROC-AUC, and with the tuned threshold it has the best F1. Random Forest is a close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ROC and precision-recall curves for the three best model families. They are close, which means the signal available before a call is limited. Right: the same XGBoost model at two thresholds. The threshold is a business lever: 0.65 was chosen to maximise F1 on out-of-fold training predictions, not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vs predicted lies on the diagonal, residuals are centred at zero with no pattern, so there's no systematic bias. Temperature is by far the most important feature: hotter air is less dense, so the turbine produces less power. Practical use: feed a weather forecast into the model to forecast plant output for grid dispatch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gain curve is the business view: if the bank calls clients in the order our model ranks them, the first 20% of calls reach two-thirds of all subscribers, 3.3 times better than random. The drivers are mostly the economic context, the contact channel, and how often the client was already called. Close with the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one line per task, be honest about limitations (evaluators reward this), and say what PBL 2 will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drop duration? (leakage). Why not accuracy? (imbalance). Why is Ridge = Linear? (4 features, nothing to regularise). How was the threshold chosen? (out-of-fold on train, not test). Why XGBoost? (best CV score, handles non-linearity and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Text 0"/>
          <p:cNvSpPr txBox="1"/>
          <p:nvPr/>
        </p:nvSpPr>
        <p:spPr>
          <a:xfrm>
            <a:off x="548640" y="640080"/>
            <a:ext cx="11094415" cy="365760"/>
          </a:xfrm>
          <a:prstGeom prst="rect">
            <a:avLst/>
          </a:prstGeom>
          <a:noFill/>
          <a:ln/>
        </p:spPr>
        <p:txBody>
          <a:bodyPr wrap="square" lIns="0" tIns="0" rIns="0" bIns="0" rtlCol="0" anchor="ctr"/>
          <a:lstStyle/>
          <a:p>
            <a:pPr indent="0" marL="0">
              <a:buNone/>
            </a:pPr>
            <a:r>
              <a:rPr lang="en-US" sz="1300" b="1" spc="200" kern="0" dirty="0">
                <a:solidFill>
                  <a:srgbClr val="B7D3F6"/>
                </a:solidFill>
                <a:latin typeface="Calibri" pitchFamily="34" charset="0"/>
                <a:ea typeface="Calibri" pitchFamily="34" charset="-122"/>
                <a:cs typeface="Calibri" pitchFamily="34" charset="-120"/>
              </a:rPr>
              <a:t>MACHINE LEARNING PROJECT  ·  PBL REVIEW 1  ·  28 SEPTEMBER 2026</a:t>
            </a:r>
            <a:endParaRPr lang="en-US" sz="1300" dirty="0"/>
          </a:p>
        </p:txBody>
      </p:sp>
      <p:sp>
        <p:nvSpPr>
          <p:cNvPr id="3" name="Text 1"/>
          <p:cNvSpPr txBox="1"/>
          <p:nvPr/>
        </p:nvSpPr>
        <p:spPr>
          <a:xfrm>
            <a:off x="548640" y="1143000"/>
            <a:ext cx="9601200" cy="17373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Mobile App Ecosystem Dynamics and Direct Bank Marketing Pipelines</a:t>
            </a:r>
            <a:endParaRPr lang="en-US" sz="4000" dirty="0"/>
          </a:p>
        </p:txBody>
      </p:sp>
      <p:sp>
        <p:nvSpPr>
          <p:cNvPr id="4" name="Text 2"/>
          <p:cNvSpPr txBox="1"/>
          <p:nvPr/>
        </p:nvSpPr>
        <p:spPr>
          <a:xfrm>
            <a:off x="548640" y="2926080"/>
            <a:ext cx="9601200" cy="457200"/>
          </a:xfrm>
          <a:prstGeom prst="rect">
            <a:avLst/>
          </a:prstGeom>
          <a:noFill/>
          <a:ln/>
        </p:spPr>
        <p:txBody>
          <a:bodyPr wrap="square" lIns="0" tIns="0" rIns="0" bIns="0" rtlCol="0" anchor="ctr"/>
          <a:lstStyle/>
          <a:p>
            <a:pPr indent="0" marL="0">
              <a:buNone/>
            </a:pPr>
            <a:r>
              <a:rPr lang="en-US" sz="1800" dirty="0">
                <a:solidFill>
                  <a:srgbClr val="B7D3F6"/>
                </a:solidFill>
                <a:latin typeface="Calibri" pitchFamily="34" charset="0"/>
                <a:ea typeface="Calibri" pitchFamily="34" charset="-122"/>
                <a:cs typeface="Calibri" pitchFamily="34" charset="-120"/>
              </a:rPr>
              <a:t>Exploratory analysis, regression and classification on four real-world datasets</a:t>
            </a:r>
            <a:endParaRPr lang="en-US" sz="1800" dirty="0"/>
          </a:p>
        </p:txBody>
      </p:sp>
      <p:sp>
        <p:nvSpPr>
          <p:cNvPr id="5" name="Shape 3"/>
          <p:cNvSpPr/>
          <p:nvPr/>
        </p:nvSpPr>
        <p:spPr>
          <a:xfrm>
            <a:off x="548640" y="3703320"/>
            <a:ext cx="2602154" cy="868680"/>
          </a:xfrm>
          <a:prstGeom prst="roundRect">
            <a:avLst>
              <a:gd name="adj" fmla="val 10526"/>
            </a:avLst>
          </a:prstGeom>
          <a:solidFill>
            <a:srgbClr val="1B2F55"/>
          </a:solidFill>
          <a:ln w="12700">
            <a:solidFill>
              <a:srgbClr val="1B2F55"/>
            </a:solidFill>
            <a:prstDash val="solid"/>
          </a:ln>
        </p:spPr>
      </p:sp>
      <p:sp>
        <p:nvSpPr>
          <p:cNvPr id="6" name="Text 4"/>
          <p:cNvSpPr txBox="1"/>
          <p:nvPr/>
        </p:nvSpPr>
        <p:spPr>
          <a:xfrm>
            <a:off x="749808" y="3749040"/>
            <a:ext cx="2236394" cy="777240"/>
          </a:xfrm>
          <a:prstGeom prst="rect">
            <a:avLst/>
          </a:prstGeom>
          <a:noFill/>
          <a:ln/>
        </p:spPr>
        <p:txBody>
          <a:bodyPr wrap="square" lIns="0" tIns="0" rIns="0" bIns="0" rtlCol="0" anchor="ctr"/>
          <a:lstStyle/>
          <a:p>
            <a:pPr indent="0" marL="0">
              <a:buNone/>
            </a:pPr>
            <a:r>
              <a:rPr lang="en-US" sz="1050" b="1" spc="100" kern="0" dirty="0">
                <a:solidFill>
                  <a:srgbClr val="B7D3F6"/>
                </a:solidFill>
                <a:latin typeface="Calibri" pitchFamily="34" charset="0"/>
                <a:ea typeface="Calibri" pitchFamily="34" charset="-122"/>
                <a:cs typeface="Calibri" pitchFamily="34" charset="-120"/>
              </a:rPr>
              <a:t>EDA 1</a:t>
            </a:r>
            <a:endParaRPr lang="en-US" sz="1050" dirty="0"/>
          </a:p>
          <a:p>
            <a:pPr indent="0" marL="0">
              <a:buNone/>
            </a:pPr>
            <a:r>
              <a:rPr lang="en-US" sz="1600" b="1" dirty="0">
                <a:solidFill>
                  <a:srgbClr val="FFFFFF"/>
                </a:solidFill>
                <a:latin typeface="Calibri" pitchFamily="34" charset="0"/>
                <a:ea typeface="Calibri" pitchFamily="34" charset="-122"/>
                <a:cs typeface="Calibri" pitchFamily="34" charset="-120"/>
              </a:rPr>
              <a:t>Google Play Store</a:t>
            </a:r>
            <a:endParaRPr lang="en-US" sz="1050" dirty="0"/>
          </a:p>
        </p:txBody>
      </p:sp>
      <p:sp>
        <p:nvSpPr>
          <p:cNvPr id="7" name="Shape 5"/>
          <p:cNvSpPr/>
          <p:nvPr/>
        </p:nvSpPr>
        <p:spPr>
          <a:xfrm>
            <a:off x="3379394" y="3703320"/>
            <a:ext cx="2602154" cy="868680"/>
          </a:xfrm>
          <a:prstGeom prst="roundRect">
            <a:avLst>
              <a:gd name="adj" fmla="val 10526"/>
            </a:avLst>
          </a:prstGeom>
          <a:solidFill>
            <a:srgbClr val="1B2F55"/>
          </a:solidFill>
          <a:ln w="12700">
            <a:solidFill>
              <a:srgbClr val="1B2F55"/>
            </a:solidFill>
            <a:prstDash val="solid"/>
          </a:ln>
        </p:spPr>
      </p:sp>
      <p:sp>
        <p:nvSpPr>
          <p:cNvPr id="8" name="Text 6"/>
          <p:cNvSpPr txBox="1"/>
          <p:nvPr/>
        </p:nvSpPr>
        <p:spPr>
          <a:xfrm>
            <a:off x="3580562" y="3749040"/>
            <a:ext cx="2236394" cy="777240"/>
          </a:xfrm>
          <a:prstGeom prst="rect">
            <a:avLst/>
          </a:prstGeom>
          <a:noFill/>
          <a:ln/>
        </p:spPr>
        <p:txBody>
          <a:bodyPr wrap="square" lIns="0" tIns="0" rIns="0" bIns="0" rtlCol="0" anchor="ctr"/>
          <a:lstStyle/>
          <a:p>
            <a:pPr indent="0" marL="0">
              <a:buNone/>
            </a:pPr>
            <a:r>
              <a:rPr lang="en-US" sz="1050" b="1" spc="100" kern="0" dirty="0">
                <a:solidFill>
                  <a:srgbClr val="B7D3F6"/>
                </a:solidFill>
                <a:latin typeface="Calibri" pitchFamily="34" charset="0"/>
                <a:ea typeface="Calibri" pitchFamily="34" charset="-122"/>
                <a:cs typeface="Calibri" pitchFamily="34" charset="-120"/>
              </a:rPr>
              <a:t>EDA 2</a:t>
            </a:r>
            <a:endParaRPr lang="en-US" sz="1050" dirty="0"/>
          </a:p>
          <a:p>
            <a:pPr indent="0" marL="0">
              <a:buNone/>
            </a:pPr>
            <a:r>
              <a:rPr lang="en-US" sz="1600" b="1" dirty="0">
                <a:solidFill>
                  <a:srgbClr val="FFFFFF"/>
                </a:solidFill>
                <a:latin typeface="Calibri" pitchFamily="34" charset="0"/>
                <a:ea typeface="Calibri" pitchFamily="34" charset="-122"/>
                <a:cs typeface="Calibri" pitchFamily="34" charset="-120"/>
              </a:rPr>
              <a:t>Video Game Sales</a:t>
            </a:r>
            <a:endParaRPr lang="en-US" sz="1050" dirty="0"/>
          </a:p>
        </p:txBody>
      </p:sp>
      <p:sp>
        <p:nvSpPr>
          <p:cNvPr id="9" name="Shape 7"/>
          <p:cNvSpPr/>
          <p:nvPr/>
        </p:nvSpPr>
        <p:spPr>
          <a:xfrm>
            <a:off x="6210148" y="3703320"/>
            <a:ext cx="2602154" cy="868680"/>
          </a:xfrm>
          <a:prstGeom prst="roundRect">
            <a:avLst>
              <a:gd name="adj" fmla="val 10526"/>
            </a:avLst>
          </a:prstGeom>
          <a:solidFill>
            <a:srgbClr val="1B2F55"/>
          </a:solidFill>
          <a:ln w="12700">
            <a:solidFill>
              <a:srgbClr val="1B2F55"/>
            </a:solidFill>
            <a:prstDash val="solid"/>
          </a:ln>
        </p:spPr>
      </p:sp>
      <p:sp>
        <p:nvSpPr>
          <p:cNvPr id="10" name="Text 8"/>
          <p:cNvSpPr txBox="1"/>
          <p:nvPr/>
        </p:nvSpPr>
        <p:spPr>
          <a:xfrm>
            <a:off x="6411316" y="3749040"/>
            <a:ext cx="2236394" cy="777240"/>
          </a:xfrm>
          <a:prstGeom prst="rect">
            <a:avLst/>
          </a:prstGeom>
          <a:noFill/>
          <a:ln/>
        </p:spPr>
        <p:txBody>
          <a:bodyPr wrap="square" lIns="0" tIns="0" rIns="0" bIns="0" rtlCol="0" anchor="ctr"/>
          <a:lstStyle/>
          <a:p>
            <a:pPr indent="0" marL="0">
              <a:buNone/>
            </a:pPr>
            <a:r>
              <a:rPr lang="en-US" sz="1050" b="1" spc="100" kern="0" dirty="0">
                <a:solidFill>
                  <a:srgbClr val="B7D3F6"/>
                </a:solidFill>
                <a:latin typeface="Calibri" pitchFamily="34" charset="0"/>
                <a:ea typeface="Calibri" pitchFamily="34" charset="-122"/>
                <a:cs typeface="Calibri" pitchFamily="34" charset="-120"/>
              </a:rPr>
              <a:t>REGRESSION</a:t>
            </a:r>
            <a:endParaRPr lang="en-US" sz="1050" dirty="0"/>
          </a:p>
          <a:p>
            <a:pPr indent="0" marL="0">
              <a:buNone/>
            </a:pPr>
            <a:r>
              <a:rPr lang="en-US" sz="1600" b="1" dirty="0">
                <a:solidFill>
                  <a:srgbClr val="FFFFFF"/>
                </a:solidFill>
                <a:latin typeface="Calibri" pitchFamily="34" charset="0"/>
                <a:ea typeface="Calibri" pitchFamily="34" charset="-122"/>
                <a:cs typeface="Calibri" pitchFamily="34" charset="-120"/>
              </a:rPr>
              <a:t>Power Plant (CCPP)</a:t>
            </a:r>
            <a:endParaRPr lang="en-US" sz="1050" dirty="0"/>
          </a:p>
        </p:txBody>
      </p:sp>
      <p:sp>
        <p:nvSpPr>
          <p:cNvPr id="11" name="Shape 9"/>
          <p:cNvSpPr/>
          <p:nvPr/>
        </p:nvSpPr>
        <p:spPr>
          <a:xfrm>
            <a:off x="9040901" y="3703320"/>
            <a:ext cx="2602154" cy="868680"/>
          </a:xfrm>
          <a:prstGeom prst="roundRect">
            <a:avLst>
              <a:gd name="adj" fmla="val 10526"/>
            </a:avLst>
          </a:prstGeom>
          <a:solidFill>
            <a:srgbClr val="1B2F55"/>
          </a:solidFill>
          <a:ln w="12700">
            <a:solidFill>
              <a:srgbClr val="1B2F55"/>
            </a:solidFill>
            <a:prstDash val="solid"/>
          </a:ln>
        </p:spPr>
      </p:sp>
      <p:sp>
        <p:nvSpPr>
          <p:cNvPr id="12" name="Text 10"/>
          <p:cNvSpPr txBox="1"/>
          <p:nvPr/>
        </p:nvSpPr>
        <p:spPr>
          <a:xfrm>
            <a:off x="9242069" y="3749040"/>
            <a:ext cx="2236394" cy="777240"/>
          </a:xfrm>
          <a:prstGeom prst="rect">
            <a:avLst/>
          </a:prstGeom>
          <a:noFill/>
          <a:ln/>
        </p:spPr>
        <p:txBody>
          <a:bodyPr wrap="square" lIns="0" tIns="0" rIns="0" bIns="0" rtlCol="0" anchor="ctr"/>
          <a:lstStyle/>
          <a:p>
            <a:pPr indent="0" marL="0">
              <a:buNone/>
            </a:pPr>
            <a:r>
              <a:rPr lang="en-US" sz="1050" b="1" spc="100" kern="0" dirty="0">
                <a:solidFill>
                  <a:srgbClr val="EB6834"/>
                </a:solidFill>
                <a:latin typeface="Calibri" pitchFamily="34" charset="0"/>
                <a:ea typeface="Calibri" pitchFamily="34" charset="-122"/>
                <a:cs typeface="Calibri" pitchFamily="34" charset="-120"/>
              </a:rPr>
              <a:t>CLASSIFICATION</a:t>
            </a:r>
            <a:endParaRPr lang="en-US" sz="1050" dirty="0"/>
          </a:p>
          <a:p>
            <a:pPr indent="0" marL="0">
              <a:buNone/>
            </a:pPr>
            <a:r>
              <a:rPr lang="en-US" sz="1600" b="1" dirty="0">
                <a:solidFill>
                  <a:srgbClr val="FFFFFF"/>
                </a:solidFill>
                <a:latin typeface="Calibri" pitchFamily="34" charset="0"/>
                <a:ea typeface="Calibri" pitchFamily="34" charset="-122"/>
                <a:cs typeface="Calibri" pitchFamily="34" charset="-120"/>
              </a:rPr>
              <a:t>Bank Marketing</a:t>
            </a:r>
            <a:endParaRPr lang="en-US" sz="1050" dirty="0"/>
          </a:p>
        </p:txBody>
      </p:sp>
      <p:sp>
        <p:nvSpPr>
          <p:cNvPr id="13" name="Text 11"/>
          <p:cNvSpPr txBox="1"/>
          <p:nvPr/>
        </p:nvSpPr>
        <p:spPr>
          <a:xfrm>
            <a:off x="548640" y="4937760"/>
            <a:ext cx="2743200" cy="274320"/>
          </a:xfrm>
          <a:prstGeom prst="rect">
            <a:avLst/>
          </a:prstGeom>
          <a:noFill/>
          <a:ln/>
        </p:spPr>
        <p:txBody>
          <a:bodyPr wrap="square" lIns="0" tIns="0" rIns="0" bIns="0" rtlCol="0" anchor="ctr"/>
          <a:lstStyle/>
          <a:p>
            <a:pPr indent="0" marL="0">
              <a:buNone/>
            </a:pPr>
            <a:r>
              <a:rPr lang="en-US" sz="1100" b="1" spc="200" kern="0" dirty="0">
                <a:solidFill>
                  <a:srgbClr val="B7D3F6"/>
                </a:solidFill>
                <a:latin typeface="Calibri" pitchFamily="34" charset="0"/>
                <a:ea typeface="Calibri" pitchFamily="34" charset="-122"/>
                <a:cs typeface="Calibri" pitchFamily="34" charset="-120"/>
              </a:rPr>
              <a:t>GROUP 10</a:t>
            </a:r>
            <a:endParaRPr lang="en-US" sz="1100" dirty="0"/>
          </a:p>
        </p:txBody>
      </p:sp>
      <p:sp>
        <p:nvSpPr>
          <p:cNvPr id="14" name="Text 12"/>
          <p:cNvSpPr txBox="1"/>
          <p:nvPr/>
        </p:nvSpPr>
        <p:spPr>
          <a:xfrm>
            <a:off x="548640" y="5257800"/>
            <a:ext cx="2602154"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Sanskriti Rastogi</a:t>
            </a:r>
            <a:endParaRPr lang="en-US" sz="1400" dirty="0"/>
          </a:p>
          <a:p>
            <a:pPr indent="0" marL="0">
              <a:buNone/>
            </a:pPr>
            <a:r>
              <a:rPr lang="en-US" sz="1150" dirty="0">
                <a:solidFill>
                  <a:srgbClr val="B7D3F6"/>
                </a:solidFill>
                <a:latin typeface="Calibri" pitchFamily="34" charset="0"/>
                <a:ea typeface="Calibri" pitchFamily="34" charset="-122"/>
                <a:cs typeface="Calibri" pitchFamily="34" charset="-120"/>
              </a:rPr>
              <a:t>RA2411003012439</a:t>
            </a:r>
            <a:endParaRPr lang="en-US" sz="1400" dirty="0"/>
          </a:p>
        </p:txBody>
      </p:sp>
      <p:sp>
        <p:nvSpPr>
          <p:cNvPr id="15" name="Text 13"/>
          <p:cNvSpPr txBox="1"/>
          <p:nvPr/>
        </p:nvSpPr>
        <p:spPr>
          <a:xfrm>
            <a:off x="3379394" y="5257800"/>
            <a:ext cx="2602154"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Sahil Raj</a:t>
            </a:r>
            <a:endParaRPr lang="en-US" sz="1400" dirty="0"/>
          </a:p>
          <a:p>
            <a:pPr indent="0" marL="0">
              <a:buNone/>
            </a:pPr>
            <a:r>
              <a:rPr lang="en-US" sz="1150" dirty="0">
                <a:solidFill>
                  <a:srgbClr val="B7D3F6"/>
                </a:solidFill>
                <a:latin typeface="Calibri" pitchFamily="34" charset="0"/>
                <a:ea typeface="Calibri" pitchFamily="34" charset="-122"/>
                <a:cs typeface="Calibri" pitchFamily="34" charset="-120"/>
              </a:rPr>
              <a:t>RA2411003012492</a:t>
            </a:r>
            <a:endParaRPr lang="en-US" sz="1400" dirty="0"/>
          </a:p>
        </p:txBody>
      </p:sp>
      <p:sp>
        <p:nvSpPr>
          <p:cNvPr id="16" name="Text 14"/>
          <p:cNvSpPr txBox="1"/>
          <p:nvPr/>
        </p:nvSpPr>
        <p:spPr>
          <a:xfrm>
            <a:off x="6210148" y="5257800"/>
            <a:ext cx="2602154"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Yash Santosh Lohare</a:t>
            </a:r>
            <a:endParaRPr lang="en-US" sz="1400" dirty="0"/>
          </a:p>
          <a:p>
            <a:pPr indent="0" marL="0">
              <a:buNone/>
            </a:pPr>
            <a:r>
              <a:rPr lang="en-US" sz="1150" dirty="0">
                <a:solidFill>
                  <a:srgbClr val="B7D3F6"/>
                </a:solidFill>
                <a:latin typeface="Calibri" pitchFamily="34" charset="0"/>
                <a:ea typeface="Calibri" pitchFamily="34" charset="-122"/>
                <a:cs typeface="Calibri" pitchFamily="34" charset="-120"/>
              </a:rPr>
              <a:t>RA2411003012493</a:t>
            </a:r>
            <a:endParaRPr lang="en-US" sz="1400" dirty="0"/>
          </a:p>
        </p:txBody>
      </p:sp>
      <p:sp>
        <p:nvSpPr>
          <p:cNvPr id="17" name="Text 15"/>
          <p:cNvSpPr txBox="1"/>
          <p:nvPr/>
        </p:nvSpPr>
        <p:spPr>
          <a:xfrm>
            <a:off x="9040901" y="5257800"/>
            <a:ext cx="2602154"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Om Pathania</a:t>
            </a:r>
            <a:endParaRPr lang="en-US" sz="1400" dirty="0"/>
          </a:p>
          <a:p>
            <a:pPr indent="0" marL="0">
              <a:buNone/>
            </a:pPr>
            <a:r>
              <a:rPr lang="en-US" sz="1150" dirty="0">
                <a:solidFill>
                  <a:srgbClr val="B7D3F6"/>
                </a:solidFill>
                <a:latin typeface="Calibri" pitchFamily="34" charset="0"/>
                <a:ea typeface="Calibri" pitchFamily="34" charset="-122"/>
                <a:cs typeface="Calibri" pitchFamily="34" charset="-120"/>
              </a:rPr>
              <a:t>RA2411003012495</a:t>
            </a:r>
            <a:endParaRPr lang="en-US" sz="1400" dirty="0"/>
          </a:p>
        </p:txBody>
      </p:sp>
      <p:sp>
        <p:nvSpPr>
          <p:cNvPr id="18" name="Text 16"/>
          <p:cNvSpPr txBox="1"/>
          <p:nvPr/>
        </p:nvSpPr>
        <p:spPr>
          <a:xfrm>
            <a:off x="548640" y="6126480"/>
            <a:ext cx="5486400" cy="320040"/>
          </a:xfrm>
          <a:prstGeom prst="rect">
            <a:avLst/>
          </a:prstGeom>
          <a:noFill/>
          <a:ln/>
        </p:spPr>
        <p:txBody>
          <a:bodyPr wrap="square" lIns="0" tIns="0" rIns="0" bIns="0" rtlCol="0" anchor="ctr"/>
          <a:lstStyle/>
          <a:p>
            <a:pPr indent="0" marL="0">
              <a:buNone/>
            </a:pPr>
            <a:r>
              <a:rPr lang="en-US" sz="1300" dirty="0">
                <a:solidFill>
                  <a:srgbClr val="B7D3F6"/>
                </a:solidFill>
                <a:latin typeface="Calibri" pitchFamily="34" charset="0"/>
                <a:ea typeface="Calibri" pitchFamily="34" charset="-122"/>
                <a:cs typeface="Calibri" pitchFamily="34" charset="-120"/>
              </a:rPr>
              <a:t>Guide: Dr. Arnab Maity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1 · Problem Identification &amp; Dataset Selection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Problem statement and objectives</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sp>
        <p:nvSpPr>
          <p:cNvPr id="7" name="Shape 4"/>
          <p:cNvSpPr/>
          <p:nvPr/>
        </p:nvSpPr>
        <p:spPr>
          <a:xfrm>
            <a:off x="548640" y="1600200"/>
            <a:ext cx="4754880" cy="4526280"/>
          </a:xfrm>
          <a:prstGeom prst="roundRect">
            <a:avLst>
              <a:gd name="adj" fmla="val 2020"/>
            </a:avLst>
          </a:prstGeom>
          <a:solidFill>
            <a:srgbClr val="EEF4FC"/>
          </a:solidFill>
          <a:ln w="12700">
            <a:solidFill>
              <a:srgbClr val="EEF4FC"/>
            </a:solidFill>
            <a:prstDash val="solid"/>
          </a:ln>
        </p:spPr>
      </p:sp>
      <p:sp>
        <p:nvSpPr>
          <p:cNvPr id="8" name="Text 5"/>
          <p:cNvSpPr txBox="1"/>
          <p:nvPr/>
        </p:nvSpPr>
        <p:spPr>
          <a:xfrm>
            <a:off x="822960" y="1783080"/>
            <a:ext cx="4206240" cy="3017520"/>
          </a:xfrm>
          <a:prstGeom prst="rect">
            <a:avLst/>
          </a:prstGeom>
          <a:noFill/>
          <a:ln/>
        </p:spPr>
        <p:txBody>
          <a:bodyPr wrap="square" lIns="0" tIns="0" rIns="0" bIns="0" rtlCol="0" anchor="t"/>
          <a:lstStyle/>
          <a:p>
            <a:pPr indent="0" marL="0">
              <a:spcAft>
                <a:spcPts val="600"/>
              </a:spcAft>
              <a:buNone/>
            </a:pPr>
            <a:r>
              <a:rPr lang="en-US" sz="1800" b="1" dirty="0">
                <a:solidFill>
                  <a:srgbClr val="1A1A1A"/>
                </a:solidFill>
                <a:latin typeface="Calibri" pitchFamily="34" charset="0"/>
                <a:ea typeface="Calibri" pitchFamily="34" charset="-122"/>
                <a:cs typeface="Calibri" pitchFamily="34" charset="-120"/>
              </a:rPr>
              <a:t>The problem</a:t>
            </a:r>
            <a:endParaRPr lang="en-US" sz="1800" dirty="0"/>
          </a:p>
          <a:p>
            <a:pPr indent="0" marL="0">
              <a:spcAft>
                <a:spcPts val="600"/>
              </a:spcAft>
              <a:buNone/>
            </a:pPr>
            <a:r>
              <a:rPr lang="en-US" sz="1400" dirty="0">
                <a:solidFill>
                  <a:srgbClr val="52514E"/>
                </a:solidFill>
                <a:latin typeface="Calibri" pitchFamily="34" charset="0"/>
                <a:ea typeface="Calibri" pitchFamily="34" charset="-122"/>
                <a:cs typeface="Calibri" pitchFamily="34" charset="-120"/>
              </a:rPr>
              <a:t>Digital businesses make decisions on huge, messy data: which apps and games succeed, where demand comes from, and which customers are worth contacting.</a:t>
            </a:r>
            <a:endParaRPr lang="en-US" sz="1800" dirty="0"/>
          </a:p>
          <a:p>
            <a:pPr indent="0" marL="0">
              <a:spcAft>
                <a:spcPts val="600"/>
              </a:spcAft>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indent="0" marL="0">
              <a:spcAft>
                <a:spcPts val="600"/>
              </a:spcAft>
              <a:buNone/>
            </a:pPr>
            <a:r>
              <a:rPr lang="en-US" sz="1800" b="1" dirty="0">
                <a:solidFill>
                  <a:srgbClr val="1A1A1A"/>
                </a:solidFill>
                <a:latin typeface="Calibri" pitchFamily="34" charset="0"/>
                <a:ea typeface="Calibri" pitchFamily="34" charset="-122"/>
                <a:cs typeface="Calibri" pitchFamily="34" charset="-120"/>
              </a:rPr>
              <a:t>Our approach</a:t>
            </a:r>
            <a:endParaRPr lang="en-US" sz="1800" dirty="0"/>
          </a:p>
          <a:p>
            <a:pPr indent="0" marL="0">
              <a:spcAft>
                <a:spcPts val="600"/>
              </a:spcAft>
              <a:buNone/>
            </a:pPr>
            <a:r>
              <a:rPr lang="en-US" sz="1400" dirty="0">
                <a:solidFill>
                  <a:srgbClr val="52514E"/>
                </a:solidFill>
                <a:latin typeface="Calibri" pitchFamily="34" charset="0"/>
                <a:ea typeface="Calibri" pitchFamily="34" charset="-122"/>
                <a:cs typeface="Calibri" pitchFamily="34" charset="-120"/>
              </a:rPr>
              <a:t>Build end-to-end ML pipelines that turn raw data into decisions: understand two digital markets, then predict a continuous and a binary business outcome.</a:t>
            </a:r>
            <a:endParaRPr lang="en-US" sz="1800" dirty="0"/>
          </a:p>
        </p:txBody>
      </p:sp>
      <p:sp>
        <p:nvSpPr>
          <p:cNvPr id="9" name="Text 6"/>
          <p:cNvSpPr txBox="1"/>
          <p:nvPr/>
        </p:nvSpPr>
        <p:spPr>
          <a:xfrm>
            <a:off x="822960" y="4846320"/>
            <a:ext cx="1298448" cy="365760"/>
          </a:xfrm>
          <a:prstGeom prst="roundRect">
            <a:avLst>
              <a:gd name="adj" fmla="val 20000"/>
            </a:avLst>
          </a:prstGeom>
          <a:solidFill>
            <a:srgbClr val="2A78D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  Clean</a:t>
            </a:r>
            <a:endParaRPr lang="en-US" sz="1250" dirty="0"/>
          </a:p>
        </p:txBody>
      </p:sp>
      <p:sp>
        <p:nvSpPr>
          <p:cNvPr id="10" name="Text 7"/>
          <p:cNvSpPr txBox="1"/>
          <p:nvPr/>
        </p:nvSpPr>
        <p:spPr>
          <a:xfrm>
            <a:off x="2240280" y="4846320"/>
            <a:ext cx="1298448" cy="365760"/>
          </a:xfrm>
          <a:prstGeom prst="roundRect">
            <a:avLst>
              <a:gd name="adj" fmla="val 20000"/>
            </a:avLst>
          </a:prstGeom>
          <a:solidFill>
            <a:srgbClr val="2A78D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  Explore</a:t>
            </a:r>
            <a:endParaRPr lang="en-US" sz="1250" dirty="0"/>
          </a:p>
        </p:txBody>
      </p:sp>
      <p:sp>
        <p:nvSpPr>
          <p:cNvPr id="11" name="Text 8"/>
          <p:cNvSpPr txBox="1"/>
          <p:nvPr/>
        </p:nvSpPr>
        <p:spPr>
          <a:xfrm>
            <a:off x="3657600" y="4846320"/>
            <a:ext cx="1298448" cy="365760"/>
          </a:xfrm>
          <a:prstGeom prst="roundRect">
            <a:avLst>
              <a:gd name="adj" fmla="val 20000"/>
            </a:avLst>
          </a:prstGeom>
          <a:solidFill>
            <a:srgbClr val="2A78D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Model</a:t>
            </a:r>
            <a:endParaRPr lang="en-US" sz="1250" dirty="0"/>
          </a:p>
        </p:txBody>
      </p:sp>
      <p:sp>
        <p:nvSpPr>
          <p:cNvPr id="12" name="Text 9"/>
          <p:cNvSpPr txBox="1"/>
          <p:nvPr/>
        </p:nvSpPr>
        <p:spPr>
          <a:xfrm>
            <a:off x="822960" y="5349240"/>
            <a:ext cx="1298448" cy="365760"/>
          </a:xfrm>
          <a:prstGeom prst="roundRect">
            <a:avLst>
              <a:gd name="adj" fmla="val 20000"/>
            </a:avLst>
          </a:prstGeom>
          <a:solidFill>
            <a:srgbClr val="2A78D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  Compare</a:t>
            </a:r>
            <a:endParaRPr lang="en-US" sz="1250" dirty="0"/>
          </a:p>
        </p:txBody>
      </p:sp>
      <p:sp>
        <p:nvSpPr>
          <p:cNvPr id="13" name="Text 10"/>
          <p:cNvSpPr txBox="1"/>
          <p:nvPr/>
        </p:nvSpPr>
        <p:spPr>
          <a:xfrm>
            <a:off x="2240280" y="5349240"/>
            <a:ext cx="1298448" cy="365760"/>
          </a:xfrm>
          <a:prstGeom prst="roundRect">
            <a:avLst>
              <a:gd name="adj" fmla="val 20000"/>
            </a:avLst>
          </a:prstGeom>
          <a:solidFill>
            <a:srgbClr val="EB6834"/>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  Interpret</a:t>
            </a:r>
            <a:endParaRPr lang="en-US" sz="1250" dirty="0"/>
          </a:p>
        </p:txBody>
      </p:sp>
      <p:sp>
        <p:nvSpPr>
          <p:cNvPr id="14" name="Shape 11"/>
          <p:cNvSpPr/>
          <p:nvPr/>
        </p:nvSpPr>
        <p:spPr>
          <a:xfrm>
            <a:off x="5623560" y="1600200"/>
            <a:ext cx="2872588" cy="2103120"/>
          </a:xfrm>
          <a:prstGeom prst="roundRect">
            <a:avLst>
              <a:gd name="adj" fmla="val 4348"/>
            </a:avLst>
          </a:prstGeom>
          <a:solidFill>
            <a:srgbClr val="FFFFFF"/>
          </a:solidFill>
          <a:ln w="12700">
            <a:solidFill>
              <a:srgbClr val="E1E0D9"/>
            </a:solidFill>
            <a:prstDash val="solid"/>
          </a:ln>
        </p:spPr>
      </p:sp>
      <p:sp>
        <p:nvSpPr>
          <p:cNvPr id="15" name="Text 12"/>
          <p:cNvSpPr txBox="1"/>
          <p:nvPr/>
        </p:nvSpPr>
        <p:spPr>
          <a:xfrm>
            <a:off x="5852160" y="1783080"/>
            <a:ext cx="914400" cy="457200"/>
          </a:xfrm>
          <a:prstGeom prst="rect">
            <a:avLst/>
          </a:prstGeom>
          <a:noFill/>
          <a:ln/>
        </p:spPr>
        <p:txBody>
          <a:bodyPr wrap="square" lIns="0" tIns="0" rIns="0" bIns="0" rtlCol="0" anchor="ctr"/>
          <a:lstStyle/>
          <a:p>
            <a:pPr indent="0" marL="0">
              <a:buNone/>
            </a:pPr>
            <a:r>
              <a:rPr lang="en-US" sz="2400" b="1" dirty="0">
                <a:solidFill>
                  <a:srgbClr val="2A78D6"/>
                </a:solidFill>
                <a:latin typeface="Arial" pitchFamily="34" charset="0"/>
                <a:ea typeface="Arial" pitchFamily="34" charset="-122"/>
                <a:cs typeface="Arial" pitchFamily="34" charset="-120"/>
              </a:rPr>
              <a:t>01</a:t>
            </a:r>
            <a:endParaRPr lang="en-US" sz="2400" dirty="0"/>
          </a:p>
        </p:txBody>
      </p:sp>
      <p:sp>
        <p:nvSpPr>
          <p:cNvPr id="16" name="Text 13"/>
          <p:cNvSpPr txBox="1"/>
          <p:nvPr/>
        </p:nvSpPr>
        <p:spPr>
          <a:xfrm>
            <a:off x="5852160" y="2331720"/>
            <a:ext cx="2415388" cy="12344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Mobile app ecosystem</a:t>
            </a:r>
            <a:endParaRPr lang="en-US" sz="1600" dirty="0"/>
          </a:p>
          <a:p>
            <a:pPr indent="0" marL="0">
              <a:buNone/>
            </a:pPr>
            <a:r>
              <a:rPr lang="en-US" sz="1300" dirty="0">
                <a:solidFill>
                  <a:srgbClr val="52514E"/>
                </a:solidFill>
                <a:latin typeface="Calibri" pitchFamily="34" charset="0"/>
                <a:ea typeface="Calibri" pitchFamily="34" charset="-122"/>
                <a:cs typeface="Calibri" pitchFamily="34" charset="-120"/>
              </a:rPr>
              <a:t>What drives app ratings and installs? Free vs paid, categories, maintenance.</a:t>
            </a:r>
            <a:endParaRPr lang="en-US" sz="1600" dirty="0"/>
          </a:p>
        </p:txBody>
      </p:sp>
      <p:sp>
        <p:nvSpPr>
          <p:cNvPr id="17" name="Shape 14"/>
          <p:cNvSpPr/>
          <p:nvPr/>
        </p:nvSpPr>
        <p:spPr>
          <a:xfrm>
            <a:off x="8770468" y="1600200"/>
            <a:ext cx="2872588" cy="2103120"/>
          </a:xfrm>
          <a:prstGeom prst="roundRect">
            <a:avLst>
              <a:gd name="adj" fmla="val 4348"/>
            </a:avLst>
          </a:prstGeom>
          <a:solidFill>
            <a:srgbClr val="FFFFFF"/>
          </a:solidFill>
          <a:ln w="12700">
            <a:solidFill>
              <a:srgbClr val="E1E0D9"/>
            </a:solidFill>
            <a:prstDash val="solid"/>
          </a:ln>
        </p:spPr>
      </p:sp>
      <p:sp>
        <p:nvSpPr>
          <p:cNvPr id="18" name="Text 15"/>
          <p:cNvSpPr txBox="1"/>
          <p:nvPr/>
        </p:nvSpPr>
        <p:spPr>
          <a:xfrm>
            <a:off x="8999068" y="1783080"/>
            <a:ext cx="914400" cy="457200"/>
          </a:xfrm>
          <a:prstGeom prst="rect">
            <a:avLst/>
          </a:prstGeom>
          <a:noFill/>
          <a:ln/>
        </p:spPr>
        <p:txBody>
          <a:bodyPr wrap="square" lIns="0" tIns="0" rIns="0" bIns="0" rtlCol="0" anchor="ctr"/>
          <a:lstStyle/>
          <a:p>
            <a:pPr indent="0" marL="0">
              <a:buNone/>
            </a:pPr>
            <a:r>
              <a:rPr lang="en-US" sz="2400" b="1" dirty="0">
                <a:solidFill>
                  <a:srgbClr val="2A78D6"/>
                </a:solidFill>
                <a:latin typeface="Arial" pitchFamily="34" charset="0"/>
                <a:ea typeface="Arial" pitchFamily="34" charset="-122"/>
                <a:cs typeface="Arial" pitchFamily="34" charset="-120"/>
              </a:rPr>
              <a:t>02</a:t>
            </a:r>
            <a:endParaRPr lang="en-US" sz="2400" dirty="0"/>
          </a:p>
        </p:txBody>
      </p:sp>
      <p:sp>
        <p:nvSpPr>
          <p:cNvPr id="19" name="Text 16"/>
          <p:cNvSpPr txBox="1"/>
          <p:nvPr/>
        </p:nvSpPr>
        <p:spPr>
          <a:xfrm>
            <a:off x="8999068" y="2331720"/>
            <a:ext cx="2415388" cy="12344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Video game industry</a:t>
            </a:r>
            <a:endParaRPr lang="en-US" sz="1600" dirty="0"/>
          </a:p>
          <a:p>
            <a:pPr indent="0" marL="0">
              <a:buNone/>
            </a:pPr>
            <a:r>
              <a:rPr lang="en-US" sz="1300" dirty="0">
                <a:solidFill>
                  <a:srgbClr val="52514E"/>
                </a:solidFill>
                <a:latin typeface="Calibri" pitchFamily="34" charset="0"/>
                <a:ea typeface="Calibri" pitchFamily="34" charset="-122"/>
                <a:cs typeface="Calibri" pitchFamily="34" charset="-120"/>
              </a:rPr>
              <a:t>How did sales evolve (1980–2016)? Which genres, platforms, regions dominate?</a:t>
            </a:r>
            <a:endParaRPr lang="en-US" sz="1600" dirty="0"/>
          </a:p>
        </p:txBody>
      </p:sp>
      <p:sp>
        <p:nvSpPr>
          <p:cNvPr id="20" name="Shape 17"/>
          <p:cNvSpPr/>
          <p:nvPr/>
        </p:nvSpPr>
        <p:spPr>
          <a:xfrm>
            <a:off x="5623560" y="3931920"/>
            <a:ext cx="2872588" cy="2103120"/>
          </a:xfrm>
          <a:prstGeom prst="roundRect">
            <a:avLst>
              <a:gd name="adj" fmla="val 4348"/>
            </a:avLst>
          </a:prstGeom>
          <a:solidFill>
            <a:srgbClr val="FFFFFF"/>
          </a:solidFill>
          <a:ln w="12700">
            <a:solidFill>
              <a:srgbClr val="E1E0D9"/>
            </a:solidFill>
            <a:prstDash val="solid"/>
          </a:ln>
        </p:spPr>
      </p:sp>
      <p:sp>
        <p:nvSpPr>
          <p:cNvPr id="21" name="Text 18"/>
          <p:cNvSpPr txBox="1"/>
          <p:nvPr/>
        </p:nvSpPr>
        <p:spPr>
          <a:xfrm>
            <a:off x="5852160" y="4114800"/>
            <a:ext cx="914400" cy="457200"/>
          </a:xfrm>
          <a:prstGeom prst="rect">
            <a:avLst/>
          </a:prstGeom>
          <a:noFill/>
          <a:ln/>
        </p:spPr>
        <p:txBody>
          <a:bodyPr wrap="square" lIns="0" tIns="0" rIns="0" bIns="0" rtlCol="0" anchor="ctr"/>
          <a:lstStyle/>
          <a:p>
            <a:pPr indent="0" marL="0">
              <a:buNone/>
            </a:pPr>
            <a:r>
              <a:rPr lang="en-US" sz="2400" b="1" dirty="0">
                <a:solidFill>
                  <a:srgbClr val="2A78D6"/>
                </a:solidFill>
                <a:latin typeface="Arial" pitchFamily="34" charset="0"/>
                <a:ea typeface="Arial" pitchFamily="34" charset="-122"/>
                <a:cs typeface="Arial" pitchFamily="34" charset="-120"/>
              </a:rPr>
              <a:t>03</a:t>
            </a:r>
            <a:endParaRPr lang="en-US" sz="2400" dirty="0"/>
          </a:p>
        </p:txBody>
      </p:sp>
      <p:sp>
        <p:nvSpPr>
          <p:cNvPr id="22" name="Text 19"/>
          <p:cNvSpPr txBox="1"/>
          <p:nvPr/>
        </p:nvSpPr>
        <p:spPr>
          <a:xfrm>
            <a:off x="5852160" y="4663440"/>
            <a:ext cx="2415388" cy="12344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Regression</a:t>
            </a:r>
            <a:endParaRPr lang="en-US" sz="1600" dirty="0"/>
          </a:p>
          <a:p>
            <a:pPr indent="0" marL="0">
              <a:buNone/>
            </a:pPr>
            <a:r>
              <a:rPr lang="en-US" sz="1300" dirty="0">
                <a:solidFill>
                  <a:srgbClr val="52514E"/>
                </a:solidFill>
                <a:latin typeface="Calibri" pitchFamily="34" charset="0"/>
                <a:ea typeface="Calibri" pitchFamily="34" charset="-122"/>
                <a:cs typeface="Calibri" pitchFamily="34" charset="-120"/>
              </a:rPr>
              <a:t>Predict a power plant's hourly energy output (MW) from ambient conditions.</a:t>
            </a:r>
            <a:endParaRPr lang="en-US" sz="1600" dirty="0"/>
          </a:p>
        </p:txBody>
      </p:sp>
      <p:sp>
        <p:nvSpPr>
          <p:cNvPr id="23" name="Shape 20"/>
          <p:cNvSpPr/>
          <p:nvPr/>
        </p:nvSpPr>
        <p:spPr>
          <a:xfrm>
            <a:off x="8770468" y="3931920"/>
            <a:ext cx="2872588" cy="2103120"/>
          </a:xfrm>
          <a:prstGeom prst="roundRect">
            <a:avLst>
              <a:gd name="adj" fmla="val 4348"/>
            </a:avLst>
          </a:prstGeom>
          <a:solidFill>
            <a:srgbClr val="FFFFFF"/>
          </a:solidFill>
          <a:ln w="12700">
            <a:solidFill>
              <a:srgbClr val="E1E0D9"/>
            </a:solidFill>
            <a:prstDash val="solid"/>
          </a:ln>
        </p:spPr>
      </p:sp>
      <p:sp>
        <p:nvSpPr>
          <p:cNvPr id="24" name="Text 21"/>
          <p:cNvSpPr txBox="1"/>
          <p:nvPr/>
        </p:nvSpPr>
        <p:spPr>
          <a:xfrm>
            <a:off x="8999068" y="41148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Arial" pitchFamily="34" charset="0"/>
                <a:ea typeface="Arial" pitchFamily="34" charset="-122"/>
                <a:cs typeface="Arial" pitchFamily="34" charset="-120"/>
              </a:rPr>
              <a:t>04</a:t>
            </a:r>
            <a:endParaRPr lang="en-US" sz="2400" dirty="0"/>
          </a:p>
        </p:txBody>
      </p:sp>
      <p:sp>
        <p:nvSpPr>
          <p:cNvPr id="25" name="Text 22"/>
          <p:cNvSpPr txBox="1"/>
          <p:nvPr/>
        </p:nvSpPr>
        <p:spPr>
          <a:xfrm>
            <a:off x="8999068" y="4663440"/>
            <a:ext cx="2415388" cy="123444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Classification</a:t>
            </a:r>
            <a:endParaRPr lang="en-US" sz="1600" dirty="0"/>
          </a:p>
          <a:p>
            <a:pPr indent="0" marL="0">
              <a:buNone/>
            </a:pPr>
            <a:r>
              <a:rPr lang="en-US" sz="1300" dirty="0">
                <a:solidFill>
                  <a:srgbClr val="52514E"/>
                </a:solidFill>
                <a:latin typeface="Calibri" pitchFamily="34" charset="0"/>
                <a:ea typeface="Calibri" pitchFamily="34" charset="-122"/>
                <a:cs typeface="Calibri" pitchFamily="34" charset="-120"/>
              </a:rPr>
              <a:t>Predict which bank clients will subscribe to a term deposit before calling them.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1 · Problem Identification &amp; Dataset Selection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Four datasets, each chosen for a specific ML task</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234440"/>
                <a:gridCol w="2148840"/>
                <a:gridCol w="1371600"/>
                <a:gridCol w="1097280"/>
                <a:gridCol w="1737360"/>
                <a:gridCol w="3502152"/>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Task</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0F1F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0F1F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0F1F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Size</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0F1F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0F1F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suits the task</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0F1F3D"/>
                    </a:solidFill>
                  </a:tcPr>
                </a:tc>
              </a:tr>
              <a:tr h="868680">
                <a:tc>
                  <a:txBody>
                    <a:bodyPr/>
                    <a:lstStyle/>
                    <a:p>
                      <a:pPr indent="0" marL="0">
                        <a:buNone/>
                      </a:pPr>
                      <a:r>
                        <a:rPr lang="en-US" sz="1250" b="1" dirty="0">
                          <a:solidFill>
                            <a:srgbClr val="2A78D6"/>
                          </a:solidFill>
                          <a:latin typeface="Calibri" pitchFamily="34" charset="0"/>
                          <a:ea typeface="Calibri" pitchFamily="34" charset="-122"/>
                          <a:cs typeface="Calibri" pitchFamily="34" charset="-120"/>
                        </a:rPr>
                        <a:t>EDA 1</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Google Play Store Apps</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Kaggle · lava18</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10,841 × 13</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 (exploratory)</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Real, messy data: numbers stored as text, duplicates, 15% missing ratings → full cleaning exercise</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r>
              <a:tr h="868680">
                <a:tc>
                  <a:txBody>
                    <a:bodyPr/>
                    <a:lstStyle/>
                    <a:p>
                      <a:pPr indent="0" marL="0">
                        <a:buNone/>
                      </a:pPr>
                      <a:r>
                        <a:rPr lang="en-US" sz="1250" b="1" dirty="0">
                          <a:solidFill>
                            <a:srgbClr val="2A78D6"/>
                          </a:solidFill>
                          <a:latin typeface="Calibri" pitchFamily="34" charset="0"/>
                          <a:ea typeface="Calibri" pitchFamily="34" charset="-122"/>
                          <a:cs typeface="Calibri" pitchFamily="34" charset="-120"/>
                        </a:rPr>
                        <a:t>EDA 2</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Video Game Sales</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Kaggle · gregorut</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16,598 × 11</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 (exploratory)</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37 years × 4 regions × 12 genres: time trends, market concentration, regional taste</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868680">
                <a:tc>
                  <a:txBody>
                    <a:bodyPr/>
                    <a:lstStyle/>
                    <a:p>
                      <a:pPr indent="0" marL="0">
                        <a:buNone/>
                      </a:pPr>
                      <a:r>
                        <a:rPr lang="en-US" sz="1250" b="1" dirty="0">
                          <a:solidFill>
                            <a:srgbClr val="2A78D6"/>
                          </a:solidFill>
                          <a:latin typeface="Calibri" pitchFamily="34" charset="0"/>
                          <a:ea typeface="Calibri" pitchFamily="34" charset="-122"/>
                          <a:cs typeface="Calibri" pitchFamily="34" charset="-120"/>
                        </a:rPr>
                        <a:t>Regression</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Combined Cycle Power Plant</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UCI #294</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9,568 × 5</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PE: energy output (MW)</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Clean sensor data with clear physical drivers; ideal to benchmark linear vs non-linear models</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7F9FC"/>
                    </a:solidFill>
                  </a:tcPr>
                </a:tc>
              </a:tr>
              <a:tr h="868680">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Classification</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Bank Marketing (additional-full)</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UCI #222</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41,188 × 21</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y: subscribed? (yes / no)</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52514E"/>
                          </a:solidFill>
                          <a:latin typeface="Calibri" pitchFamily="34" charset="0"/>
                          <a:ea typeface="Calibri" pitchFamily="34" charset="-122"/>
                          <a:cs typeface="Calibri" pitchFamily="34" charset="-120"/>
                        </a:rPr>
                        <a:t>Real campaign with only 11% positives → tests imbalance handling and the right metrics</a:t>
                      </a:r>
                      <a:endParaRPr lang="en-US" sz="1250" dirty="0">
                        <a:latin typeface="Calibri" charset="0"/>
                        <a:ea typeface="Calibri" charset="0"/>
                        <a:cs typeface="Calibri" charset="0"/>
                      </a:endParaRPr>
                    </a:p>
                  </a:txBody>
                  <a:tcPr marL="76200" marR="76200" marT="50800" marB="508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050" dirty="0">
                <a:solidFill>
                  <a:srgbClr val="898781"/>
                </a:solidFill>
                <a:latin typeface="Calibri" pitchFamily="34" charset="0"/>
                <a:ea typeface="Calibri" pitchFamily="34" charset="-122"/>
                <a:cs typeface="Calibri" pitchFamily="34" charset="-120"/>
              </a:rPr>
              <a:t>Problem statement fixed by faculty; we use the assigned datasets. Links: kaggle.com/datasets/lava18/google-play-store-apps · kaggle.com/datasets/gregorut/videogamesales · archive.ics.uci.edu/dataset/294 · archive.ics.uci.edu/dataset/222</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2 · Exploratory Data Analysis &amp; Insights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Play Store: cleaning 10,841 messy rows into 9,659 apps</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sp>
        <p:nvSpPr>
          <p:cNvPr id="7" name="Shape 4"/>
          <p:cNvSpPr/>
          <p:nvPr/>
        </p:nvSpPr>
        <p:spPr>
          <a:xfrm>
            <a:off x="548640" y="1600200"/>
            <a:ext cx="2057400" cy="1188720"/>
          </a:xfrm>
          <a:prstGeom prst="roundRect">
            <a:avLst>
              <a:gd name="adj" fmla="val 7692"/>
            </a:avLst>
          </a:prstGeom>
          <a:solidFill>
            <a:srgbClr val="EEF4FC"/>
          </a:solidFill>
          <a:ln w="12700">
            <a:solidFill>
              <a:srgbClr val="EEF4FC"/>
            </a:solidFill>
            <a:prstDash val="solid"/>
          </a:ln>
        </p:spPr>
      </p:sp>
      <p:sp>
        <p:nvSpPr>
          <p:cNvPr id="8" name="Text 5"/>
          <p:cNvSpPr txBox="1"/>
          <p:nvPr/>
        </p:nvSpPr>
        <p:spPr>
          <a:xfrm>
            <a:off x="731520" y="1673352"/>
            <a:ext cx="1691640" cy="104241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1,182</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duplicate / corrupt rows removed</a:t>
            </a:r>
            <a:endParaRPr lang="en-US" sz="2600" dirty="0"/>
          </a:p>
        </p:txBody>
      </p:sp>
      <p:sp>
        <p:nvSpPr>
          <p:cNvPr id="9" name="Shape 6"/>
          <p:cNvSpPr/>
          <p:nvPr/>
        </p:nvSpPr>
        <p:spPr>
          <a:xfrm>
            <a:off x="2834640" y="1600200"/>
            <a:ext cx="2057400" cy="1188720"/>
          </a:xfrm>
          <a:prstGeom prst="roundRect">
            <a:avLst>
              <a:gd name="adj" fmla="val 7692"/>
            </a:avLst>
          </a:prstGeom>
          <a:solidFill>
            <a:srgbClr val="EEF4FC"/>
          </a:solidFill>
          <a:ln w="12700">
            <a:solidFill>
              <a:srgbClr val="EEF4FC"/>
            </a:solidFill>
            <a:prstDash val="solid"/>
          </a:ln>
        </p:spPr>
      </p:sp>
      <p:sp>
        <p:nvSpPr>
          <p:cNvPr id="10" name="Text 7"/>
          <p:cNvSpPr txBox="1"/>
          <p:nvPr/>
        </p:nvSpPr>
        <p:spPr>
          <a:xfrm>
            <a:off x="3017520" y="1673352"/>
            <a:ext cx="1691640" cy="104241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15.1%</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apps with no rating</a:t>
            </a:r>
            <a:endParaRPr lang="en-US" sz="2600" dirty="0"/>
          </a:p>
        </p:txBody>
      </p:sp>
      <p:sp>
        <p:nvSpPr>
          <p:cNvPr id="11" name="Shape 8"/>
          <p:cNvSpPr/>
          <p:nvPr/>
        </p:nvSpPr>
        <p:spPr>
          <a:xfrm>
            <a:off x="5120640" y="1600200"/>
            <a:ext cx="2057400" cy="1188720"/>
          </a:xfrm>
          <a:prstGeom prst="roundRect">
            <a:avLst>
              <a:gd name="adj" fmla="val 7692"/>
            </a:avLst>
          </a:prstGeom>
          <a:solidFill>
            <a:srgbClr val="FDF0EA"/>
          </a:solidFill>
          <a:ln w="12700">
            <a:solidFill>
              <a:srgbClr val="FDF0EA"/>
            </a:solidFill>
            <a:prstDash val="solid"/>
          </a:ln>
        </p:spPr>
      </p:sp>
      <p:sp>
        <p:nvSpPr>
          <p:cNvPr id="12" name="Text 9"/>
          <p:cNvSpPr txBox="1"/>
          <p:nvPr/>
        </p:nvSpPr>
        <p:spPr>
          <a:xfrm>
            <a:off x="5303520" y="1673352"/>
            <a:ext cx="1691640" cy="1042416"/>
          </a:xfrm>
          <a:prstGeom prst="rect">
            <a:avLst/>
          </a:prstGeom>
          <a:noFill/>
          <a:ln/>
        </p:spPr>
        <p:txBody>
          <a:bodyPr wrap="square" lIns="0" tIns="0" rIns="0" bIns="0" rtlCol="0" anchor="ctr"/>
          <a:lstStyle/>
          <a:p>
            <a:pPr indent="0" marL="0">
              <a:buNone/>
            </a:pPr>
            <a:r>
              <a:rPr lang="en-US" sz="2600" b="1" dirty="0">
                <a:solidFill>
                  <a:srgbClr val="EB6834"/>
                </a:solidFill>
                <a:latin typeface="Arial" pitchFamily="34" charset="0"/>
                <a:ea typeface="Arial" pitchFamily="34" charset="-122"/>
                <a:cs typeface="Arial" pitchFamily="34" charset="-120"/>
              </a:rPr>
              <a:t>92%</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of those have ≤ 1K installs</a:t>
            </a:r>
            <a:endParaRPr lang="en-US" sz="2600" dirty="0"/>
          </a:p>
        </p:txBody>
      </p:sp>
      <p:sp>
        <p:nvSpPr>
          <p:cNvPr id="13" name="Text 10"/>
          <p:cNvSpPr txBox="1"/>
          <p:nvPr/>
        </p:nvSpPr>
        <p:spPr>
          <a:xfrm>
            <a:off x="548640" y="3017520"/>
            <a:ext cx="662940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Cleaning steps</a:t>
            </a:r>
            <a:endParaRPr lang="en-US" sz="1600" dirty="0"/>
          </a:p>
        </p:txBody>
      </p:sp>
      <p:sp>
        <p:nvSpPr>
          <p:cNvPr id="14" name="Text 11"/>
          <p:cNvSpPr txBox="1"/>
          <p:nvPr/>
        </p:nvSpPr>
        <p:spPr>
          <a:xfrm>
            <a:off x="548640" y="3474720"/>
            <a:ext cx="6629400" cy="2743200"/>
          </a:xfrm>
          <a:prstGeom prst="rect">
            <a:avLst/>
          </a:prstGeom>
          <a:noFill/>
          <a:ln/>
        </p:spPr>
        <p:txBody>
          <a:bodyPr wrap="square" lIns="0" tIns="0" rIns="0" bIns="0" rtlCol="0" anchor="t"/>
          <a:lstStyle/>
          <a:p>
            <a:pPr marL="203200" indent="-203200">
              <a:spcAft>
                <a:spcPts val="700"/>
              </a:spcAft>
              <a:buSzPct val="100000"/>
              <a:buChar char="•"/>
            </a:pPr>
            <a:r>
              <a:rPr lang="en-US" sz="1350" b="1" dirty="0">
                <a:solidFill>
                  <a:srgbClr val="1A1A1A"/>
                </a:solidFill>
                <a:latin typeface="Calibri" pitchFamily="34" charset="0"/>
                <a:ea typeface="Calibri" pitchFamily="34" charset="-122"/>
                <a:cs typeface="Calibri" pitchFamily="34" charset="-120"/>
              </a:rPr>
              <a:t>Corrupted row: </a:t>
            </a:r>
            <a:pPr indent="0" marL="0">
              <a:spcAft>
                <a:spcPts val="700"/>
              </a:spcAft>
              <a:buNone/>
            </a:pPr>
            <a:r>
              <a:rPr lang="en-US" sz="1350" dirty="0">
                <a:solidFill>
                  <a:srgbClr val="52514E"/>
                </a:solidFill>
                <a:latin typeface="Calibri" pitchFamily="34" charset="0"/>
                <a:ea typeface="Calibri" pitchFamily="34" charset="-122"/>
                <a:cs typeface="Calibri" pitchFamily="34" charset="-120"/>
              </a:rPr>
              <a:t>row 10472 had shifted columns (Rating = 19, Category = "1.9") → dropped</a:t>
            </a:r>
            <a:endParaRPr lang="en-US" sz="1350" dirty="0"/>
          </a:p>
          <a:p>
            <a:pPr marL="203200" indent="-203200">
              <a:spcAft>
                <a:spcPts val="700"/>
              </a:spcAft>
              <a:buSzPct val="100000"/>
              <a:buChar char="•"/>
            </a:pPr>
            <a:r>
              <a:rPr lang="en-US" sz="1350" b="1" dirty="0">
                <a:solidFill>
                  <a:srgbClr val="1A1A1A"/>
                </a:solidFill>
                <a:latin typeface="Calibri" pitchFamily="34" charset="0"/>
                <a:ea typeface="Calibri" pitchFamily="34" charset="-122"/>
                <a:cs typeface="Calibri" pitchFamily="34" charset="-120"/>
              </a:rPr>
              <a:t>Duplicates: </a:t>
            </a:r>
            <a:pPr indent="0" marL="0">
              <a:spcAft>
                <a:spcPts val="700"/>
              </a:spcAft>
              <a:buNone/>
            </a:pPr>
            <a:r>
              <a:rPr lang="en-US" sz="1350" dirty="0">
                <a:solidFill>
                  <a:srgbClr val="52514E"/>
                </a:solidFill>
                <a:latin typeface="Calibri" pitchFamily="34" charset="0"/>
                <a:ea typeface="Calibri" pitchFamily="34" charset="-122"/>
                <a:cs typeface="Calibri" pitchFamily="34" charset="-120"/>
              </a:rPr>
              <a:t>483 exact duplicates + repeated scrapes of the same app → kept the latest (most reviews)</a:t>
            </a:r>
            <a:endParaRPr lang="en-US" sz="1350" dirty="0"/>
          </a:p>
          <a:p>
            <a:pPr marL="203200" indent="-203200">
              <a:spcAft>
                <a:spcPts val="700"/>
              </a:spcAft>
              <a:buSzPct val="100000"/>
              <a:buChar char="•"/>
            </a:pPr>
            <a:r>
              <a:rPr lang="en-US" sz="1350" b="1" dirty="0">
                <a:solidFill>
                  <a:srgbClr val="1A1A1A"/>
                </a:solidFill>
                <a:latin typeface="Calibri" pitchFamily="34" charset="0"/>
                <a:ea typeface="Calibri" pitchFamily="34" charset="-122"/>
                <a:cs typeface="Calibri" pitchFamily="34" charset="-120"/>
              </a:rPr>
              <a:t>Text → numbers: </a:t>
            </a:r>
            <a:pPr indent="0" marL="0">
              <a:spcAft>
                <a:spcPts val="700"/>
              </a:spcAft>
              <a:buNone/>
            </a:pPr>
            <a:r>
              <a:rPr lang="en-US" sz="1350" dirty="0">
                <a:solidFill>
                  <a:srgbClr val="52514E"/>
                </a:solidFill>
                <a:latin typeface="Calibri" pitchFamily="34" charset="0"/>
                <a:ea typeface="Calibri" pitchFamily="34" charset="-122"/>
                <a:cs typeface="Calibri" pitchFamily="34" charset="-120"/>
              </a:rPr>
              <a:t>Reviews; Size "19M"/"91k" → MB; Installs "10,000+" → 10000; Price "$4.99" → 4.99</a:t>
            </a:r>
            <a:endParaRPr lang="en-US" sz="1350" dirty="0"/>
          </a:p>
          <a:p>
            <a:pPr marL="203200" indent="-203200">
              <a:spcAft>
                <a:spcPts val="700"/>
              </a:spcAft>
              <a:buSzPct val="100000"/>
              <a:buChar char="•"/>
            </a:pPr>
            <a:r>
              <a:rPr lang="en-US" sz="1350" b="1" dirty="0">
                <a:solidFill>
                  <a:srgbClr val="1A1A1A"/>
                </a:solidFill>
                <a:latin typeface="Calibri" pitchFamily="34" charset="0"/>
                <a:ea typeface="Calibri" pitchFamily="34" charset="-122"/>
                <a:cs typeface="Calibri" pitchFamily="34" charset="-120"/>
              </a:rPr>
              <a:t>"Varies with device": </a:t>
            </a:r>
            <a:pPr indent="0" marL="0">
              <a:spcAft>
                <a:spcPts val="700"/>
              </a:spcAft>
              <a:buNone/>
            </a:pPr>
            <a:r>
              <a:rPr lang="en-US" sz="1350" dirty="0">
                <a:solidFill>
                  <a:srgbClr val="52514E"/>
                </a:solidFill>
                <a:latin typeface="Calibri" pitchFamily="34" charset="0"/>
                <a:ea typeface="Calibri" pitchFamily="34" charset="-122"/>
                <a:cs typeface="Calibri" pitchFamily="34" charset="-120"/>
              </a:rPr>
              <a:t>1,695 app sizes set to missing instead of guessed</a:t>
            </a:r>
            <a:endParaRPr lang="en-US" sz="1350" dirty="0"/>
          </a:p>
          <a:p>
            <a:pPr marL="203200" indent="-203200">
              <a:spcAft>
                <a:spcPts val="700"/>
              </a:spcAft>
              <a:buSzPct val="100000"/>
              <a:buChar char="•"/>
            </a:pPr>
            <a:r>
              <a:rPr lang="en-US" sz="1350" b="1" dirty="0">
                <a:solidFill>
                  <a:srgbClr val="1A1A1A"/>
                </a:solidFill>
                <a:latin typeface="Calibri" pitchFamily="34" charset="0"/>
                <a:ea typeface="Calibri" pitchFamily="34" charset="-122"/>
                <a:cs typeface="Calibri" pitchFamily="34" charset="-120"/>
              </a:rPr>
              <a:t>New features: </a:t>
            </a:r>
            <a:pPr indent="0" marL="0">
              <a:spcAft>
                <a:spcPts val="700"/>
              </a:spcAft>
              <a:buNone/>
            </a:pPr>
            <a:r>
              <a:rPr lang="en-US" sz="1350" dirty="0">
                <a:solidFill>
                  <a:srgbClr val="52514E"/>
                </a:solidFill>
                <a:latin typeface="Calibri" pitchFamily="34" charset="0"/>
                <a:ea typeface="Calibri" pitchFamily="34" charset="-122"/>
                <a:cs typeface="Calibri" pitchFamily="34" charset="-120"/>
              </a:rPr>
              <a:t>days since last update, primary genre, log(installs), log(reviews)</a:t>
            </a:r>
            <a:endParaRPr lang="en-US" sz="1350" dirty="0"/>
          </a:p>
        </p:txBody>
      </p:sp>
      <p:pic>
        <p:nvPicPr>
          <p:cNvPr id="15" name="Image 0" descr="/Users/ompathania/Desktop/ML_Project_5th_sem/code/outputs/figures/ps_rating_distribution.png">    </p:cNvPr>
          <p:cNvPicPr>
            <a:picLocks noChangeAspect="1"/>
          </p:cNvPicPr>
          <p:nvPr/>
        </p:nvPicPr>
        <p:blipFill>
          <a:blip r:embed="rId1"/>
          <a:stretch>
            <a:fillRect/>
          </a:stretch>
        </p:blipFill>
        <p:spPr>
          <a:xfrm>
            <a:off x="7589520" y="1645920"/>
            <a:ext cx="4053535" cy="2281772"/>
          </a:xfrm>
          <a:prstGeom prst="rect">
            <a:avLst/>
          </a:prstGeom>
        </p:spPr>
      </p:pic>
      <p:sp>
        <p:nvSpPr>
          <p:cNvPr id="16" name="Shape 12"/>
          <p:cNvSpPr/>
          <p:nvPr/>
        </p:nvSpPr>
        <p:spPr>
          <a:xfrm>
            <a:off x="7589520" y="4156292"/>
            <a:ext cx="4053535" cy="1234440"/>
          </a:xfrm>
          <a:prstGeom prst="roundRect">
            <a:avLst>
              <a:gd name="adj" fmla="val 7407"/>
            </a:avLst>
          </a:prstGeom>
          <a:solidFill>
            <a:srgbClr val="EEF4FC"/>
          </a:solidFill>
          <a:ln w="12700">
            <a:solidFill>
              <a:srgbClr val="EEF4FC"/>
            </a:solidFill>
            <a:prstDash val="solid"/>
          </a:ln>
        </p:spPr>
      </p:sp>
      <p:sp>
        <p:nvSpPr>
          <p:cNvPr id="17" name="Text 13"/>
          <p:cNvSpPr txBox="1"/>
          <p:nvPr/>
        </p:nvSpPr>
        <p:spPr>
          <a:xfrm>
            <a:off x="7772400" y="4247732"/>
            <a:ext cx="3687775" cy="10515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Ratings are inflated: </a:t>
            </a:r>
            <a:pPr indent="0" marL="0">
              <a:buNone/>
            </a:pPr>
            <a:r>
              <a:rPr lang="en-US" sz="1300" dirty="0">
                <a:solidFill>
                  <a:srgbClr val="52514E"/>
                </a:solidFill>
                <a:latin typeface="Calibri" pitchFamily="34" charset="0"/>
                <a:ea typeface="Calibri" pitchFamily="34" charset="-122"/>
                <a:cs typeface="Calibri" pitchFamily="34" charset="-120"/>
              </a:rPr>
              <a:t>median 4.3, and 77% of rated apps score ≥ 4.0, so rating on its own separates apps only weakly.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2 · Exploratory Data Analysis &amp; Insights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Play Store: games win installs, free apps dominate</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pic>
        <p:nvPicPr>
          <p:cNvPr id="7" name="Image 0" descr="/Users/ompathania/Desktop/ML_Project_5th_sem/code/outputs/figures/ps_installs_by_category.png">    </p:cNvPr>
          <p:cNvPicPr>
            <a:picLocks noChangeAspect="1"/>
          </p:cNvPicPr>
          <p:nvPr/>
        </p:nvPicPr>
        <p:blipFill>
          <a:blip r:embed="rId1"/>
          <a:stretch>
            <a:fillRect/>
          </a:stretch>
        </p:blipFill>
        <p:spPr>
          <a:xfrm>
            <a:off x="548640" y="1783080"/>
            <a:ext cx="3484778" cy="2164364"/>
          </a:xfrm>
          <a:prstGeom prst="rect">
            <a:avLst/>
          </a:prstGeom>
        </p:spPr>
      </p:pic>
      <p:sp>
        <p:nvSpPr>
          <p:cNvPr id="8" name="Shape 4"/>
          <p:cNvSpPr/>
          <p:nvPr/>
        </p:nvSpPr>
        <p:spPr>
          <a:xfrm>
            <a:off x="548640" y="4526280"/>
            <a:ext cx="3484778" cy="1417320"/>
          </a:xfrm>
          <a:prstGeom prst="roundRect">
            <a:avLst>
              <a:gd name="adj" fmla="val 6452"/>
            </a:avLst>
          </a:prstGeom>
          <a:solidFill>
            <a:srgbClr val="EEF4FC"/>
          </a:solidFill>
          <a:ln w="12700">
            <a:solidFill>
              <a:srgbClr val="EEF4FC"/>
            </a:solidFill>
            <a:prstDash val="solid"/>
          </a:ln>
        </p:spPr>
      </p:sp>
      <p:sp>
        <p:nvSpPr>
          <p:cNvPr id="9" name="Text 5"/>
          <p:cNvSpPr txBox="1"/>
          <p:nvPr/>
        </p:nvSpPr>
        <p:spPr>
          <a:xfrm>
            <a:off x="731520" y="4617720"/>
            <a:ext cx="3119018" cy="1280160"/>
          </a:xfrm>
          <a:prstGeom prst="rect">
            <a:avLst/>
          </a:prstGeom>
          <a:noFill/>
          <a:ln/>
        </p:spPr>
        <p:txBody>
          <a:bodyPr wrap="square" lIns="0" tIns="0" rIns="0" bIns="0"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Supply ≠ demand</a:t>
            </a:r>
            <a:endParaRPr lang="en-US" sz="1500" dirty="0"/>
          </a:p>
          <a:p>
            <a:pPr indent="0" marL="0">
              <a:buNone/>
            </a:pPr>
            <a:r>
              <a:rPr lang="en-US" sz="1300" dirty="0">
                <a:solidFill>
                  <a:srgbClr val="52514E"/>
                </a:solidFill>
                <a:latin typeface="Calibri" pitchFamily="34" charset="0"/>
                <a:ea typeface="Calibri" pitchFamily="34" charset="-122"/>
                <a:cs typeface="Calibri" pitchFamily="34" charset="-120"/>
              </a:rPr>
              <a:t>Family has the most apps, but Game (13.4B) and Communication (11.0B) collect the most installs.</a:t>
            </a:r>
            <a:endParaRPr lang="en-US" sz="1500" dirty="0"/>
          </a:p>
        </p:txBody>
      </p:sp>
      <p:pic>
        <p:nvPicPr>
          <p:cNvPr id="10" name="Image 1" descr="/Users/ompathania/Desktop/ML_Project_5th_sem/code/outputs/figures/ps_free_vs_paid.png">    </p:cNvPr>
          <p:cNvPicPr>
            <a:picLocks noChangeAspect="1"/>
          </p:cNvPicPr>
          <p:nvPr/>
        </p:nvPicPr>
        <p:blipFill>
          <a:blip r:embed="rId2"/>
          <a:stretch>
            <a:fillRect/>
          </a:stretch>
        </p:blipFill>
        <p:spPr>
          <a:xfrm>
            <a:off x="4353458" y="1783080"/>
            <a:ext cx="3484778" cy="1551187"/>
          </a:xfrm>
          <a:prstGeom prst="rect">
            <a:avLst/>
          </a:prstGeom>
        </p:spPr>
      </p:pic>
      <p:sp>
        <p:nvSpPr>
          <p:cNvPr id="11" name="Shape 6"/>
          <p:cNvSpPr/>
          <p:nvPr/>
        </p:nvSpPr>
        <p:spPr>
          <a:xfrm>
            <a:off x="4353458" y="4526280"/>
            <a:ext cx="3484778" cy="1417320"/>
          </a:xfrm>
          <a:prstGeom prst="roundRect">
            <a:avLst>
              <a:gd name="adj" fmla="val 6452"/>
            </a:avLst>
          </a:prstGeom>
          <a:solidFill>
            <a:srgbClr val="FDF0EA"/>
          </a:solidFill>
          <a:ln w="12700">
            <a:solidFill>
              <a:srgbClr val="FDF0EA"/>
            </a:solidFill>
            <a:prstDash val="solid"/>
          </a:ln>
        </p:spPr>
      </p:sp>
      <p:sp>
        <p:nvSpPr>
          <p:cNvPr id="12" name="Text 7"/>
          <p:cNvSpPr txBox="1"/>
          <p:nvPr/>
        </p:nvSpPr>
        <p:spPr>
          <a:xfrm>
            <a:off x="4536338" y="4617720"/>
            <a:ext cx="3119018" cy="1280160"/>
          </a:xfrm>
          <a:prstGeom prst="rect">
            <a:avLst/>
          </a:prstGeom>
          <a:noFill/>
          <a:ln/>
        </p:spPr>
        <p:txBody>
          <a:bodyPr wrap="square" lIns="0" tIns="0" rIns="0" bIns="0" rtlCol="0" anchor="t"/>
          <a:lstStyle/>
          <a:p>
            <a:pPr indent="0" marL="0">
              <a:buNone/>
            </a:pPr>
            <a:r>
              <a:rPr lang="en-US" sz="1500" b="1" dirty="0">
                <a:solidFill>
                  <a:srgbClr val="EB6834"/>
                </a:solidFill>
                <a:latin typeface="Calibri" pitchFamily="34" charset="0"/>
                <a:ea typeface="Calibri" pitchFamily="34" charset="-122"/>
                <a:cs typeface="Calibri" pitchFamily="34" charset="-120"/>
              </a:rPr>
              <a:t>Free dominates</a:t>
            </a:r>
            <a:endParaRPr lang="en-US" sz="1500" dirty="0"/>
          </a:p>
          <a:p>
            <a:pPr indent="0" marL="0">
              <a:buNone/>
            </a:pPr>
            <a:r>
              <a:rPr lang="en-US" sz="1300" dirty="0">
                <a:solidFill>
                  <a:srgbClr val="52514E"/>
                </a:solidFill>
                <a:latin typeface="Calibri" pitchFamily="34" charset="0"/>
                <a:ea typeface="Calibri" pitchFamily="34" charset="-122"/>
                <a:cs typeface="Calibri" pitchFamily="34" charset="-120"/>
              </a:rPr>
              <a:t>92.2% of apps are free, with a median of 100K installs vs 1K for paid. Paid apps rate slightly higher (4.26 vs 4.17).</a:t>
            </a:r>
            <a:endParaRPr lang="en-US" sz="1500" dirty="0"/>
          </a:p>
        </p:txBody>
      </p:sp>
      <p:pic>
        <p:nvPicPr>
          <p:cNvPr id="13" name="Image 2" descr="/Users/ompathania/Desktop/ML_Project_5th_sem/code/outputs/figures/ps_rating_vs_update.png">    </p:cNvPr>
          <p:cNvPicPr>
            <a:picLocks noChangeAspect="1"/>
          </p:cNvPicPr>
          <p:nvPr/>
        </p:nvPicPr>
        <p:blipFill>
          <a:blip r:embed="rId3"/>
          <a:stretch>
            <a:fillRect/>
          </a:stretch>
        </p:blipFill>
        <p:spPr>
          <a:xfrm>
            <a:off x="8158277" y="1783080"/>
            <a:ext cx="3484778" cy="1961613"/>
          </a:xfrm>
          <a:prstGeom prst="rect">
            <a:avLst/>
          </a:prstGeom>
        </p:spPr>
      </p:pic>
      <p:sp>
        <p:nvSpPr>
          <p:cNvPr id="14" name="Shape 8"/>
          <p:cNvSpPr/>
          <p:nvPr/>
        </p:nvSpPr>
        <p:spPr>
          <a:xfrm>
            <a:off x="8158277" y="4526280"/>
            <a:ext cx="3484778" cy="1417320"/>
          </a:xfrm>
          <a:prstGeom prst="roundRect">
            <a:avLst>
              <a:gd name="adj" fmla="val 6452"/>
            </a:avLst>
          </a:prstGeom>
          <a:solidFill>
            <a:srgbClr val="EEF4FC"/>
          </a:solidFill>
          <a:ln w="12700">
            <a:solidFill>
              <a:srgbClr val="EEF4FC"/>
            </a:solidFill>
            <a:prstDash val="solid"/>
          </a:ln>
        </p:spPr>
      </p:sp>
      <p:sp>
        <p:nvSpPr>
          <p:cNvPr id="15" name="Text 9"/>
          <p:cNvSpPr txBox="1"/>
          <p:nvPr/>
        </p:nvSpPr>
        <p:spPr>
          <a:xfrm>
            <a:off x="8341157" y="4617720"/>
            <a:ext cx="3119018" cy="1280160"/>
          </a:xfrm>
          <a:prstGeom prst="rect">
            <a:avLst/>
          </a:prstGeom>
          <a:noFill/>
          <a:ln/>
        </p:spPr>
        <p:txBody>
          <a:bodyPr wrap="square" lIns="0" tIns="0" rIns="0" bIns="0"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Maintenance pays</a:t>
            </a:r>
            <a:endParaRPr lang="en-US" sz="1500" dirty="0"/>
          </a:p>
          <a:p>
            <a:pPr indent="0" marL="0">
              <a:buNone/>
            </a:pPr>
            <a:r>
              <a:rPr lang="en-US" sz="1300" dirty="0">
                <a:solidFill>
                  <a:srgbClr val="52514E"/>
                </a:solidFill>
                <a:latin typeface="Calibri" pitchFamily="34" charset="0"/>
                <a:ea typeface="Calibri" pitchFamily="34" charset="-122"/>
                <a:cs typeface="Calibri" pitchFamily="34" charset="-120"/>
              </a:rPr>
              <a:t>Apps updated within a month average 4.27 vs 4.05 for apps untouched for 2+ years. Reviews track installs (ρ = 0.97).</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2 · Exploratory Data Analysis &amp; Insights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Video games: a hit-driven market that peaked in 2008</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graphicFrame>
        <p:nvGraphicFramePr>
          <p:cNvPr id="7" name="Chart 0" descr=""/>
          <p:cNvGraphicFramePr/>
          <p:nvPr/>
        </p:nvGraphicFramePr>
        <p:xfrm>
          <a:off x="548640" y="155448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548640" y="5760720"/>
            <a:ext cx="6949440" cy="5029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Cleaned: 16,598 → 16,323 games (271 with no year removed; kept 1980–2016). Post-2012 drop partly reflects the shift to digital sales not covered by this dataset.</a:t>
            </a:r>
            <a:endParaRPr lang="en-US" sz="1100" dirty="0"/>
          </a:p>
        </p:txBody>
      </p:sp>
      <p:sp>
        <p:nvSpPr>
          <p:cNvPr id="9" name="Shape 5"/>
          <p:cNvSpPr/>
          <p:nvPr/>
        </p:nvSpPr>
        <p:spPr>
          <a:xfrm>
            <a:off x="7818120" y="1600200"/>
            <a:ext cx="3824935" cy="1005840"/>
          </a:xfrm>
          <a:prstGeom prst="roundRect">
            <a:avLst>
              <a:gd name="adj" fmla="val 9091"/>
            </a:avLst>
          </a:prstGeom>
          <a:solidFill>
            <a:srgbClr val="EEF4FC"/>
          </a:solidFill>
          <a:ln w="12700">
            <a:solidFill>
              <a:srgbClr val="EEF4FC"/>
            </a:solidFill>
            <a:prstDash val="solid"/>
          </a:ln>
        </p:spPr>
      </p:sp>
      <p:sp>
        <p:nvSpPr>
          <p:cNvPr id="10" name="Text 6"/>
          <p:cNvSpPr txBox="1"/>
          <p:nvPr/>
        </p:nvSpPr>
        <p:spPr>
          <a:xfrm>
            <a:off x="8001000" y="1673352"/>
            <a:ext cx="3459175" cy="85953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679M</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units sold by games released in the peak year 2008</a:t>
            </a:r>
            <a:endParaRPr lang="en-US" sz="2600" dirty="0"/>
          </a:p>
        </p:txBody>
      </p:sp>
      <p:sp>
        <p:nvSpPr>
          <p:cNvPr id="11" name="Shape 7"/>
          <p:cNvSpPr/>
          <p:nvPr/>
        </p:nvSpPr>
        <p:spPr>
          <a:xfrm>
            <a:off x="7818120" y="2788920"/>
            <a:ext cx="3824935" cy="1005840"/>
          </a:xfrm>
          <a:prstGeom prst="roundRect">
            <a:avLst>
              <a:gd name="adj" fmla="val 9091"/>
            </a:avLst>
          </a:prstGeom>
          <a:solidFill>
            <a:srgbClr val="EEF4FC"/>
          </a:solidFill>
          <a:ln w="12700">
            <a:solidFill>
              <a:srgbClr val="EEF4FC"/>
            </a:solidFill>
            <a:prstDash val="solid"/>
          </a:ln>
        </p:spPr>
      </p:sp>
      <p:sp>
        <p:nvSpPr>
          <p:cNvPr id="12" name="Text 8"/>
          <p:cNvSpPr txBox="1"/>
          <p:nvPr/>
        </p:nvSpPr>
        <p:spPr>
          <a:xfrm>
            <a:off x="8001000" y="2862072"/>
            <a:ext cx="3459175" cy="85953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0.17M</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median game sales, while Wii Sports sold 82.7M</a:t>
            </a:r>
            <a:endParaRPr lang="en-US" sz="2600" dirty="0"/>
          </a:p>
        </p:txBody>
      </p:sp>
      <p:sp>
        <p:nvSpPr>
          <p:cNvPr id="13" name="Shape 9"/>
          <p:cNvSpPr/>
          <p:nvPr/>
        </p:nvSpPr>
        <p:spPr>
          <a:xfrm>
            <a:off x="7818120" y="3977640"/>
            <a:ext cx="3824935" cy="1005840"/>
          </a:xfrm>
          <a:prstGeom prst="roundRect">
            <a:avLst>
              <a:gd name="adj" fmla="val 9091"/>
            </a:avLst>
          </a:prstGeom>
          <a:solidFill>
            <a:srgbClr val="FDF0EA"/>
          </a:solidFill>
          <a:ln w="12700">
            <a:solidFill>
              <a:srgbClr val="FDF0EA"/>
            </a:solidFill>
            <a:prstDash val="solid"/>
          </a:ln>
        </p:spPr>
      </p:sp>
      <p:sp>
        <p:nvSpPr>
          <p:cNvPr id="14" name="Text 10"/>
          <p:cNvSpPr txBox="1"/>
          <p:nvPr/>
        </p:nvSpPr>
        <p:spPr>
          <a:xfrm>
            <a:off x="8001000" y="4050792"/>
            <a:ext cx="3459175" cy="859536"/>
          </a:xfrm>
          <a:prstGeom prst="rect">
            <a:avLst/>
          </a:prstGeom>
          <a:noFill/>
          <a:ln/>
        </p:spPr>
        <p:txBody>
          <a:bodyPr wrap="square" lIns="0" tIns="0" rIns="0" bIns="0" rtlCol="0" anchor="ctr"/>
          <a:lstStyle/>
          <a:p>
            <a:pPr indent="0" marL="0">
              <a:buNone/>
            </a:pPr>
            <a:r>
              <a:rPr lang="en-US" sz="2600" b="1" dirty="0">
                <a:solidFill>
                  <a:srgbClr val="EB6834"/>
                </a:solidFill>
                <a:latin typeface="Arial" pitchFamily="34" charset="0"/>
                <a:ea typeface="Arial" pitchFamily="34" charset="-122"/>
                <a:cs typeface="Arial" pitchFamily="34" charset="-120"/>
              </a:rPr>
              <a:t>21%</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of all sales come from the top 1% of games</a:t>
            </a:r>
            <a:endParaRPr lang="en-US" sz="2600" dirty="0"/>
          </a:p>
        </p:txBody>
      </p:sp>
      <p:sp>
        <p:nvSpPr>
          <p:cNvPr id="15" name="Shape 11"/>
          <p:cNvSpPr/>
          <p:nvPr/>
        </p:nvSpPr>
        <p:spPr>
          <a:xfrm>
            <a:off x="7818120" y="5166360"/>
            <a:ext cx="3824935" cy="1005840"/>
          </a:xfrm>
          <a:prstGeom prst="roundRect">
            <a:avLst>
              <a:gd name="adj" fmla="val 9091"/>
            </a:avLst>
          </a:prstGeom>
          <a:solidFill>
            <a:srgbClr val="EEF4FC"/>
          </a:solidFill>
          <a:ln w="12700">
            <a:solidFill>
              <a:srgbClr val="EEF4FC"/>
            </a:solidFill>
            <a:prstDash val="solid"/>
          </a:ln>
        </p:spPr>
      </p:sp>
      <p:sp>
        <p:nvSpPr>
          <p:cNvPr id="16" name="Text 12"/>
          <p:cNvSpPr txBox="1"/>
          <p:nvPr/>
        </p:nvSpPr>
        <p:spPr>
          <a:xfrm>
            <a:off x="8001000" y="5239512"/>
            <a:ext cx="3459175" cy="85953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53%</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of sales held by the top 5 of 576 publishers</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2 · Exploratory Data Analysis &amp; Insights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Video games: tastes differ sharply by region</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pic>
        <p:nvPicPr>
          <p:cNvPr id="7" name="Image 0" descr="/Users/ompathania/Desktop/ML_Project_5th_sem/code/outputs/figures/vg_region_share_by_genre.png">    </p:cNvPr>
          <p:cNvPicPr>
            <a:picLocks noChangeAspect="1"/>
          </p:cNvPicPr>
          <p:nvPr/>
        </p:nvPicPr>
        <p:blipFill>
          <a:blip r:embed="rId1"/>
          <a:stretch>
            <a:fillRect/>
          </a:stretch>
        </p:blipFill>
        <p:spPr>
          <a:xfrm>
            <a:off x="548640" y="1645920"/>
            <a:ext cx="6583680" cy="3666456"/>
          </a:xfrm>
          <a:prstGeom prst="rect">
            <a:avLst/>
          </a:prstGeom>
        </p:spPr>
      </p:pic>
      <p:sp>
        <p:nvSpPr>
          <p:cNvPr id="8" name="Text 4"/>
          <p:cNvSpPr txBox="1"/>
          <p:nvPr/>
        </p:nvSpPr>
        <p:spPr>
          <a:xfrm>
            <a:off x="7498080" y="1645920"/>
            <a:ext cx="4144975"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Share of global sales</a:t>
            </a:r>
            <a:endParaRPr lang="en-US" sz="1500" dirty="0"/>
          </a:p>
        </p:txBody>
      </p:sp>
      <p:sp>
        <p:nvSpPr>
          <p:cNvPr id="9" name="Text 5"/>
          <p:cNvSpPr txBox="1"/>
          <p:nvPr/>
        </p:nvSpPr>
        <p:spPr>
          <a:xfrm>
            <a:off x="7498080" y="2103120"/>
            <a:ext cx="1417320" cy="329184"/>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North America</a:t>
            </a:r>
            <a:endParaRPr lang="en-US" sz="1250" dirty="0"/>
          </a:p>
        </p:txBody>
      </p:sp>
      <p:sp>
        <p:nvSpPr>
          <p:cNvPr id="10" name="Shape 6"/>
          <p:cNvSpPr/>
          <p:nvPr/>
        </p:nvSpPr>
        <p:spPr>
          <a:xfrm>
            <a:off x="8961120" y="2157984"/>
            <a:ext cx="1870411" cy="219456"/>
          </a:xfrm>
          <a:prstGeom prst="rect">
            <a:avLst/>
          </a:prstGeom>
          <a:solidFill>
            <a:srgbClr val="2A78D6"/>
          </a:solidFill>
          <a:ln w="12700">
            <a:solidFill>
              <a:srgbClr val="2A78D6"/>
            </a:solidFill>
            <a:prstDash val="solid"/>
          </a:ln>
        </p:spPr>
      </p:sp>
      <p:sp>
        <p:nvSpPr>
          <p:cNvPr id="11" name="Text 7"/>
          <p:cNvSpPr txBox="1"/>
          <p:nvPr/>
        </p:nvSpPr>
        <p:spPr>
          <a:xfrm>
            <a:off x="10877251" y="2103120"/>
            <a:ext cx="731520" cy="32918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49.1%</a:t>
            </a:r>
            <a:endParaRPr lang="en-US" sz="1250" dirty="0"/>
          </a:p>
        </p:txBody>
      </p:sp>
      <p:sp>
        <p:nvSpPr>
          <p:cNvPr id="12" name="Text 8"/>
          <p:cNvSpPr txBox="1"/>
          <p:nvPr/>
        </p:nvSpPr>
        <p:spPr>
          <a:xfrm>
            <a:off x="7498080" y="2560320"/>
            <a:ext cx="1417320" cy="329184"/>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Europe</a:t>
            </a:r>
            <a:endParaRPr lang="en-US" sz="1250" dirty="0"/>
          </a:p>
        </p:txBody>
      </p:sp>
      <p:sp>
        <p:nvSpPr>
          <p:cNvPr id="13" name="Shape 9"/>
          <p:cNvSpPr/>
          <p:nvPr/>
        </p:nvSpPr>
        <p:spPr>
          <a:xfrm>
            <a:off x="8961120" y="2615184"/>
            <a:ext cx="1039964" cy="219456"/>
          </a:xfrm>
          <a:prstGeom prst="rect">
            <a:avLst/>
          </a:prstGeom>
          <a:solidFill>
            <a:srgbClr val="EB6834"/>
          </a:solidFill>
          <a:ln w="12700">
            <a:solidFill>
              <a:srgbClr val="EB6834"/>
            </a:solidFill>
            <a:prstDash val="solid"/>
          </a:ln>
        </p:spPr>
      </p:sp>
      <p:sp>
        <p:nvSpPr>
          <p:cNvPr id="14" name="Text 10"/>
          <p:cNvSpPr txBox="1"/>
          <p:nvPr/>
        </p:nvSpPr>
        <p:spPr>
          <a:xfrm>
            <a:off x="10046804" y="2560320"/>
            <a:ext cx="731520" cy="32918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27.3%</a:t>
            </a:r>
            <a:endParaRPr lang="en-US" sz="1250" dirty="0"/>
          </a:p>
        </p:txBody>
      </p:sp>
      <p:sp>
        <p:nvSpPr>
          <p:cNvPr id="15" name="Text 11"/>
          <p:cNvSpPr txBox="1"/>
          <p:nvPr/>
        </p:nvSpPr>
        <p:spPr>
          <a:xfrm>
            <a:off x="7498080" y="3017520"/>
            <a:ext cx="1417320" cy="329184"/>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Japan</a:t>
            </a:r>
            <a:endParaRPr lang="en-US" sz="1250" dirty="0"/>
          </a:p>
        </p:txBody>
      </p:sp>
      <p:sp>
        <p:nvSpPr>
          <p:cNvPr id="16" name="Shape 12"/>
          <p:cNvSpPr/>
          <p:nvPr/>
        </p:nvSpPr>
        <p:spPr>
          <a:xfrm>
            <a:off x="8961120" y="3072384"/>
            <a:ext cx="556171" cy="219456"/>
          </a:xfrm>
          <a:prstGeom prst="rect">
            <a:avLst/>
          </a:prstGeom>
          <a:solidFill>
            <a:srgbClr val="1BAF7A"/>
          </a:solidFill>
          <a:ln w="12700">
            <a:solidFill>
              <a:srgbClr val="1BAF7A"/>
            </a:solidFill>
            <a:prstDash val="solid"/>
          </a:ln>
        </p:spPr>
      </p:sp>
      <p:sp>
        <p:nvSpPr>
          <p:cNvPr id="17" name="Text 13"/>
          <p:cNvSpPr txBox="1"/>
          <p:nvPr/>
        </p:nvSpPr>
        <p:spPr>
          <a:xfrm>
            <a:off x="9563011" y="3017520"/>
            <a:ext cx="731520" cy="32918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14.6%</a:t>
            </a:r>
            <a:endParaRPr lang="en-US" sz="1250" dirty="0"/>
          </a:p>
        </p:txBody>
      </p:sp>
      <p:sp>
        <p:nvSpPr>
          <p:cNvPr id="18" name="Text 14"/>
          <p:cNvSpPr txBox="1"/>
          <p:nvPr/>
        </p:nvSpPr>
        <p:spPr>
          <a:xfrm>
            <a:off x="7498080" y="3474720"/>
            <a:ext cx="1417320" cy="329184"/>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Other</a:t>
            </a:r>
            <a:endParaRPr lang="en-US" sz="1250" dirty="0"/>
          </a:p>
        </p:txBody>
      </p:sp>
      <p:sp>
        <p:nvSpPr>
          <p:cNvPr id="19" name="Shape 15"/>
          <p:cNvSpPr/>
          <p:nvPr/>
        </p:nvSpPr>
        <p:spPr>
          <a:xfrm>
            <a:off x="8961120" y="3529584"/>
            <a:ext cx="339036" cy="219456"/>
          </a:xfrm>
          <a:prstGeom prst="rect">
            <a:avLst/>
          </a:prstGeom>
          <a:solidFill>
            <a:srgbClr val="EDA100"/>
          </a:solidFill>
          <a:ln w="12700">
            <a:solidFill>
              <a:srgbClr val="EDA100"/>
            </a:solidFill>
            <a:prstDash val="solid"/>
          </a:ln>
        </p:spPr>
      </p:sp>
      <p:sp>
        <p:nvSpPr>
          <p:cNvPr id="20" name="Text 16"/>
          <p:cNvSpPr txBox="1"/>
          <p:nvPr/>
        </p:nvSpPr>
        <p:spPr>
          <a:xfrm>
            <a:off x="9345876" y="3474720"/>
            <a:ext cx="731520" cy="32918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8.9%</a:t>
            </a:r>
            <a:endParaRPr lang="en-US" sz="1250" dirty="0"/>
          </a:p>
        </p:txBody>
      </p:sp>
      <p:sp>
        <p:nvSpPr>
          <p:cNvPr id="21" name="Text 17"/>
          <p:cNvSpPr txBox="1"/>
          <p:nvPr/>
        </p:nvSpPr>
        <p:spPr>
          <a:xfrm>
            <a:off x="7498080" y="4069080"/>
            <a:ext cx="4144975" cy="2194560"/>
          </a:xfrm>
          <a:prstGeom prst="rect">
            <a:avLst/>
          </a:prstGeom>
          <a:noFill/>
          <a:ln/>
        </p:spPr>
        <p:txBody>
          <a:bodyPr wrap="square" lIns="0" tIns="0" rIns="0" bIns="0" rtlCol="0" anchor="t"/>
          <a:lstStyle/>
          <a:p>
            <a:pPr marL="203200" indent="-203200">
              <a:spcAft>
                <a:spcPts val="700"/>
              </a:spcAft>
              <a:buSzPct val="100000"/>
              <a:buChar char="•"/>
            </a:pPr>
            <a:r>
              <a:rPr lang="en-US" sz="1300" b="1" dirty="0">
                <a:solidFill>
                  <a:srgbClr val="1A1A1A"/>
                </a:solidFill>
                <a:latin typeface="Calibri" pitchFamily="34" charset="0"/>
                <a:ea typeface="Calibri" pitchFamily="34" charset="-122"/>
                <a:cs typeface="Calibri" pitchFamily="34" charset="-120"/>
              </a:rPr>
              <a:t>Japan is its own market: </a:t>
            </a:r>
            <a:pPr indent="0" marL="0">
              <a:spcAft>
                <a:spcPts val="700"/>
              </a:spcAft>
              <a:buNone/>
            </a:pPr>
            <a:r>
              <a:rPr lang="en-US" sz="1300" dirty="0">
                <a:solidFill>
                  <a:srgbClr val="52514E"/>
                </a:solidFill>
                <a:latin typeface="Calibri" pitchFamily="34" charset="0"/>
                <a:ea typeface="Calibri" pitchFamily="34" charset="-122"/>
                <a:cs typeface="Calibri" pitchFamily="34" charset="-120"/>
              </a:rPr>
              <a:t>Role-Playing is #1 there; 38% of all RPG sales are Japanese. JP sales correlate only 0.61 with global (NA: 0.94).</a:t>
            </a:r>
            <a:endParaRPr lang="en-US" sz="1300" dirty="0"/>
          </a:p>
          <a:p>
            <a:pPr marL="203200" indent="-203200">
              <a:spcAft>
                <a:spcPts val="700"/>
              </a:spcAft>
              <a:buSzPct val="100000"/>
              <a:buChar char="•"/>
            </a:pPr>
            <a:r>
              <a:rPr lang="en-US" sz="1300" b="1" dirty="0">
                <a:solidFill>
                  <a:srgbClr val="1A1A1A"/>
                </a:solidFill>
                <a:latin typeface="Calibri" pitchFamily="34" charset="0"/>
                <a:ea typeface="Calibri" pitchFamily="34" charset="-122"/>
                <a:cs typeface="Calibri" pitchFamily="34" charset="-120"/>
              </a:rPr>
              <a:t>Shooters are Western: </a:t>
            </a:r>
            <a:pPr indent="0" marL="0">
              <a:spcAft>
                <a:spcPts val="700"/>
              </a:spcAft>
              <a:buNone/>
            </a:pPr>
            <a:r>
              <a:rPr lang="en-US" sz="1300" dirty="0">
                <a:solidFill>
                  <a:srgbClr val="52514E"/>
                </a:solidFill>
                <a:latin typeface="Calibri" pitchFamily="34" charset="0"/>
                <a:ea typeface="Calibri" pitchFamily="34" charset="-122"/>
                <a:cs typeface="Calibri" pitchFamily="34" charset="-120"/>
              </a:rPr>
              <a:t>56% of shooter sales come from North America.</a:t>
            </a:r>
            <a:endParaRPr lang="en-US" sz="1300" dirty="0"/>
          </a:p>
          <a:p>
            <a:pPr marL="203200" indent="-203200">
              <a:spcAft>
                <a:spcPts val="700"/>
              </a:spcAft>
              <a:buSzPct val="100000"/>
              <a:buChar char="•"/>
            </a:pPr>
            <a:r>
              <a:rPr lang="en-US" sz="1300" b="1" dirty="0">
                <a:solidFill>
                  <a:srgbClr val="1A1A1A"/>
                </a:solidFill>
                <a:latin typeface="Calibri" pitchFamily="34" charset="0"/>
                <a:ea typeface="Calibri" pitchFamily="34" charset="-122"/>
                <a:cs typeface="Calibri" pitchFamily="34" charset="-120"/>
              </a:rPr>
              <a:t>Leaders: </a:t>
            </a:r>
            <a:pPr indent="0" marL="0">
              <a:spcAft>
                <a:spcPts val="700"/>
              </a:spcAft>
              <a:buNone/>
            </a:pPr>
            <a:r>
              <a:rPr lang="en-US" sz="1300" dirty="0">
                <a:solidFill>
                  <a:srgbClr val="52514E"/>
                </a:solidFill>
                <a:latin typeface="Calibri" pitchFamily="34" charset="0"/>
                <a:ea typeface="Calibri" pitchFamily="34" charset="-122"/>
                <a:cs typeface="Calibri" pitchFamily="34" charset="-120"/>
              </a:rPr>
              <a:t>Action sells most overall; Platform games sell most per title (0.95M avg). Top platform: PS2; top publisher: Nintendo (1,784M).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3 · Regression &amp; Classification Implementation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Regression: predicting power output from 4 sensors</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pic>
        <p:nvPicPr>
          <p:cNvPr id="7" name="Image 0" descr="/Users/ompathania/Desktop/ML_Project_5th_sem/code/outputs/figures/cc_feature_vs_target.png">    </p:cNvPr>
          <p:cNvPicPr>
            <a:picLocks noChangeAspect="1"/>
          </p:cNvPicPr>
          <p:nvPr/>
        </p:nvPicPr>
        <p:blipFill>
          <a:blip r:embed="rId1"/>
          <a:stretch>
            <a:fillRect/>
          </a:stretch>
        </p:blipFill>
        <p:spPr>
          <a:xfrm>
            <a:off x="548640" y="1554480"/>
            <a:ext cx="11094415" cy="2821053"/>
          </a:xfrm>
          <a:prstGeom prst="rect">
            <a:avLst/>
          </a:prstGeom>
        </p:spPr>
      </p:pic>
      <p:sp>
        <p:nvSpPr>
          <p:cNvPr id="8" name="Shape 4"/>
          <p:cNvSpPr/>
          <p:nvPr/>
        </p:nvSpPr>
        <p:spPr>
          <a:xfrm>
            <a:off x="548640" y="4709160"/>
            <a:ext cx="2072579" cy="1325880"/>
          </a:xfrm>
          <a:prstGeom prst="roundRect">
            <a:avLst>
              <a:gd name="adj" fmla="val 6897"/>
            </a:avLst>
          </a:prstGeom>
          <a:solidFill>
            <a:srgbClr val="EEF4FC"/>
          </a:solidFill>
          <a:ln w="12700">
            <a:solidFill>
              <a:srgbClr val="EEF4FC"/>
            </a:solidFill>
            <a:prstDash val="solid"/>
          </a:ln>
        </p:spPr>
      </p:sp>
      <p:sp>
        <p:nvSpPr>
          <p:cNvPr id="9" name="Text 5"/>
          <p:cNvSpPr txBox="1"/>
          <p:nvPr/>
        </p:nvSpPr>
        <p:spPr>
          <a:xfrm>
            <a:off x="685800" y="4800600"/>
            <a:ext cx="1798259" cy="1188720"/>
          </a:xfrm>
          <a:prstGeom prst="rect">
            <a:avLst/>
          </a:prstGeom>
          <a:noFill/>
          <a:ln/>
        </p:spPr>
        <p:txBody>
          <a:bodyPr wrap="square" lIns="0" tIns="0" rIns="0" bIns="0" rtlCol="0" anchor="t"/>
          <a:lstStyle/>
          <a:p>
            <a:pPr indent="0" marL="0">
              <a:buNone/>
            </a:pPr>
            <a:r>
              <a:rPr lang="en-US" sz="1400" b="1" dirty="0">
                <a:solidFill>
                  <a:srgbClr val="2A78D6"/>
                </a:solidFill>
                <a:latin typeface="Calibri" pitchFamily="34" charset="0"/>
                <a:ea typeface="Calibri" pitchFamily="34" charset="-122"/>
                <a:cs typeface="Calibri" pitchFamily="34" charset="-120"/>
              </a:rPr>
              <a:t>1  Clean</a:t>
            </a:r>
            <a:endParaRPr lang="en-US" sz="1400" dirty="0"/>
          </a:p>
          <a:p>
            <a:pPr indent="0" marL="0">
              <a:buNone/>
            </a:pPr>
            <a:r>
              <a:rPr lang="en-US" sz="1200" dirty="0">
                <a:solidFill>
                  <a:srgbClr val="52514E"/>
                </a:solidFill>
                <a:latin typeface="Calibri" pitchFamily="34" charset="0"/>
                <a:ea typeface="Calibri" pitchFamily="34" charset="-122"/>
                <a:cs typeface="Calibri" pitchFamily="34" charset="-120"/>
              </a:rPr>
              <a:t>9,568 rows, no missing values; 41 duplicates removed → 9,527 rows</a:t>
            </a:r>
            <a:endParaRPr lang="en-US" sz="1400" dirty="0"/>
          </a:p>
        </p:txBody>
      </p:sp>
      <p:sp>
        <p:nvSpPr>
          <p:cNvPr id="10" name="Shape 6"/>
          <p:cNvSpPr/>
          <p:nvPr/>
        </p:nvSpPr>
        <p:spPr>
          <a:xfrm>
            <a:off x="2804099" y="4709160"/>
            <a:ext cx="2072579" cy="1325880"/>
          </a:xfrm>
          <a:prstGeom prst="roundRect">
            <a:avLst>
              <a:gd name="adj" fmla="val 6897"/>
            </a:avLst>
          </a:prstGeom>
          <a:solidFill>
            <a:srgbClr val="EEF4FC"/>
          </a:solidFill>
          <a:ln w="12700">
            <a:solidFill>
              <a:srgbClr val="EEF4FC"/>
            </a:solidFill>
            <a:prstDash val="solid"/>
          </a:ln>
        </p:spPr>
      </p:sp>
      <p:sp>
        <p:nvSpPr>
          <p:cNvPr id="11" name="Text 7"/>
          <p:cNvSpPr txBox="1"/>
          <p:nvPr/>
        </p:nvSpPr>
        <p:spPr>
          <a:xfrm>
            <a:off x="2941259" y="4800600"/>
            <a:ext cx="1798259" cy="1188720"/>
          </a:xfrm>
          <a:prstGeom prst="rect">
            <a:avLst/>
          </a:prstGeom>
          <a:noFill/>
          <a:ln/>
        </p:spPr>
        <p:txBody>
          <a:bodyPr wrap="square" lIns="0" tIns="0" rIns="0" bIns="0" rtlCol="0" anchor="t"/>
          <a:lstStyle/>
          <a:p>
            <a:pPr indent="0" marL="0">
              <a:buNone/>
            </a:pPr>
            <a:r>
              <a:rPr lang="en-US" sz="1400" b="1" dirty="0">
                <a:solidFill>
                  <a:srgbClr val="2A78D6"/>
                </a:solidFill>
                <a:latin typeface="Calibri" pitchFamily="34" charset="0"/>
                <a:ea typeface="Calibri" pitchFamily="34" charset="-122"/>
                <a:cs typeface="Calibri" pitchFamily="34" charset="-120"/>
              </a:rPr>
              <a:t>2  Split</a:t>
            </a:r>
            <a:endParaRPr lang="en-US" sz="1400" dirty="0"/>
          </a:p>
          <a:p>
            <a:pPr indent="0" marL="0">
              <a:buNone/>
            </a:pPr>
            <a:r>
              <a:rPr lang="en-US" sz="1200" dirty="0">
                <a:solidFill>
                  <a:srgbClr val="52514E"/>
                </a:solidFill>
                <a:latin typeface="Calibri" pitchFamily="34" charset="0"/>
                <a:ea typeface="Calibri" pitchFamily="34" charset="-122"/>
                <a:cs typeface="Calibri" pitchFamily="34" charset="-120"/>
              </a:rPr>
              <a:t>80 / 20 train–test (7,621 / 1,906), random_state = 42</a:t>
            </a:r>
            <a:endParaRPr lang="en-US" sz="1400" dirty="0"/>
          </a:p>
        </p:txBody>
      </p:sp>
      <p:sp>
        <p:nvSpPr>
          <p:cNvPr id="12" name="Shape 8"/>
          <p:cNvSpPr/>
          <p:nvPr/>
        </p:nvSpPr>
        <p:spPr>
          <a:xfrm>
            <a:off x="5059558" y="4709160"/>
            <a:ext cx="2072579" cy="1325880"/>
          </a:xfrm>
          <a:prstGeom prst="roundRect">
            <a:avLst>
              <a:gd name="adj" fmla="val 6897"/>
            </a:avLst>
          </a:prstGeom>
          <a:solidFill>
            <a:srgbClr val="EEF4FC"/>
          </a:solidFill>
          <a:ln w="12700">
            <a:solidFill>
              <a:srgbClr val="EEF4FC"/>
            </a:solidFill>
            <a:prstDash val="solid"/>
          </a:ln>
        </p:spPr>
      </p:sp>
      <p:sp>
        <p:nvSpPr>
          <p:cNvPr id="13" name="Text 9"/>
          <p:cNvSpPr txBox="1"/>
          <p:nvPr/>
        </p:nvSpPr>
        <p:spPr>
          <a:xfrm>
            <a:off x="5196718" y="4800600"/>
            <a:ext cx="1798259" cy="1188720"/>
          </a:xfrm>
          <a:prstGeom prst="rect">
            <a:avLst/>
          </a:prstGeom>
          <a:noFill/>
          <a:ln/>
        </p:spPr>
        <p:txBody>
          <a:bodyPr wrap="square" lIns="0" tIns="0" rIns="0" bIns="0" rtlCol="0" anchor="t"/>
          <a:lstStyle/>
          <a:p>
            <a:pPr indent="0" marL="0">
              <a:buNone/>
            </a:pPr>
            <a:r>
              <a:rPr lang="en-US" sz="1400" b="1" dirty="0">
                <a:solidFill>
                  <a:srgbClr val="2A78D6"/>
                </a:solidFill>
                <a:latin typeface="Calibri" pitchFamily="34" charset="0"/>
                <a:ea typeface="Calibri" pitchFamily="34" charset="-122"/>
                <a:cs typeface="Calibri" pitchFamily="34" charset="-120"/>
              </a:rPr>
              <a:t>3  Scale</a:t>
            </a:r>
            <a:endParaRPr lang="en-US" sz="1400" dirty="0"/>
          </a:p>
          <a:p>
            <a:pPr indent="0" marL="0">
              <a:buNone/>
            </a:pPr>
            <a:r>
              <a:rPr lang="en-US" sz="1200" dirty="0">
                <a:solidFill>
                  <a:srgbClr val="52514E"/>
                </a:solidFill>
                <a:latin typeface="Calibri" pitchFamily="34" charset="0"/>
                <a:ea typeface="Calibri" pitchFamily="34" charset="-122"/>
                <a:cs typeface="Calibri" pitchFamily="34" charset="-120"/>
              </a:rPr>
              <a:t>StandardScaler inside a Pipeline, fitted on training folds only (no leakage)</a:t>
            </a:r>
            <a:endParaRPr lang="en-US" sz="1400" dirty="0"/>
          </a:p>
        </p:txBody>
      </p:sp>
      <p:sp>
        <p:nvSpPr>
          <p:cNvPr id="14" name="Shape 10"/>
          <p:cNvSpPr/>
          <p:nvPr/>
        </p:nvSpPr>
        <p:spPr>
          <a:xfrm>
            <a:off x="7315017" y="4709160"/>
            <a:ext cx="2072579" cy="1325880"/>
          </a:xfrm>
          <a:prstGeom prst="roundRect">
            <a:avLst>
              <a:gd name="adj" fmla="val 6897"/>
            </a:avLst>
          </a:prstGeom>
          <a:solidFill>
            <a:srgbClr val="EEF4FC"/>
          </a:solidFill>
          <a:ln w="12700">
            <a:solidFill>
              <a:srgbClr val="EEF4FC"/>
            </a:solidFill>
            <a:prstDash val="solid"/>
          </a:ln>
        </p:spPr>
      </p:sp>
      <p:sp>
        <p:nvSpPr>
          <p:cNvPr id="15" name="Text 11"/>
          <p:cNvSpPr txBox="1"/>
          <p:nvPr/>
        </p:nvSpPr>
        <p:spPr>
          <a:xfrm>
            <a:off x="7452177" y="4800600"/>
            <a:ext cx="1798259" cy="1188720"/>
          </a:xfrm>
          <a:prstGeom prst="rect">
            <a:avLst/>
          </a:prstGeom>
          <a:noFill/>
          <a:ln/>
        </p:spPr>
        <p:txBody>
          <a:bodyPr wrap="square" lIns="0" tIns="0" rIns="0" bIns="0" rtlCol="0" anchor="t"/>
          <a:lstStyle/>
          <a:p>
            <a:pPr indent="0" marL="0">
              <a:buNone/>
            </a:pPr>
            <a:r>
              <a:rPr lang="en-US" sz="1400" b="1" dirty="0">
                <a:solidFill>
                  <a:srgbClr val="2A78D6"/>
                </a:solidFill>
                <a:latin typeface="Calibri" pitchFamily="34" charset="0"/>
                <a:ea typeface="Calibri" pitchFamily="34" charset="-122"/>
                <a:cs typeface="Calibri" pitchFamily="34" charset="-120"/>
              </a:rPr>
              <a:t>4  Train 10 models</a:t>
            </a:r>
            <a:endParaRPr lang="en-US" sz="1400" dirty="0"/>
          </a:p>
          <a:p>
            <a:pPr indent="0" marL="0">
              <a:buNone/>
            </a:pPr>
            <a:r>
              <a:rPr lang="en-US" sz="1200" dirty="0">
                <a:solidFill>
                  <a:srgbClr val="52514E"/>
                </a:solidFill>
                <a:latin typeface="Calibri" pitchFamily="34" charset="0"/>
                <a:ea typeface="Calibri" pitchFamily="34" charset="-122"/>
                <a:cs typeface="Calibri" pitchFamily="34" charset="-120"/>
              </a:rPr>
              <a:t>Linear, Ridge, Lasso, Polynomial, KNN, SVR, Decision Tree, RF, Gradient Boosting, XGBoost</a:t>
            </a:r>
            <a:endParaRPr lang="en-US" sz="1400" dirty="0"/>
          </a:p>
        </p:txBody>
      </p:sp>
      <p:sp>
        <p:nvSpPr>
          <p:cNvPr id="16" name="Shape 12"/>
          <p:cNvSpPr/>
          <p:nvPr/>
        </p:nvSpPr>
        <p:spPr>
          <a:xfrm>
            <a:off x="9570476" y="4709160"/>
            <a:ext cx="2072579" cy="1325880"/>
          </a:xfrm>
          <a:prstGeom prst="roundRect">
            <a:avLst>
              <a:gd name="adj" fmla="val 6897"/>
            </a:avLst>
          </a:prstGeom>
          <a:solidFill>
            <a:srgbClr val="FDF0EA"/>
          </a:solidFill>
          <a:ln w="12700">
            <a:solidFill>
              <a:srgbClr val="FDF0EA"/>
            </a:solidFill>
            <a:prstDash val="solid"/>
          </a:ln>
        </p:spPr>
      </p:sp>
      <p:sp>
        <p:nvSpPr>
          <p:cNvPr id="17" name="Text 13"/>
          <p:cNvSpPr txBox="1"/>
          <p:nvPr/>
        </p:nvSpPr>
        <p:spPr>
          <a:xfrm>
            <a:off x="9707636" y="4800600"/>
            <a:ext cx="1798259" cy="1188720"/>
          </a:xfrm>
          <a:prstGeom prst="rect">
            <a:avLst/>
          </a:prstGeom>
          <a:noFill/>
          <a:ln/>
        </p:spPr>
        <p:txBody>
          <a:bodyPr wrap="square" lIns="0" tIns="0" rIns="0" bIns="0" rtlCol="0" anchor="t"/>
          <a:lstStyle/>
          <a:p>
            <a:pPr indent="0" marL="0">
              <a:buNone/>
            </a:pPr>
            <a:r>
              <a:rPr lang="en-US" sz="1400" b="1" dirty="0">
                <a:solidFill>
                  <a:srgbClr val="EB6834"/>
                </a:solidFill>
                <a:latin typeface="Calibri" pitchFamily="34" charset="0"/>
                <a:ea typeface="Calibri" pitchFamily="34" charset="-122"/>
                <a:cs typeface="Calibri" pitchFamily="34" charset="-120"/>
              </a:rPr>
              <a:t>5  Validate &amp; tune</a:t>
            </a:r>
            <a:endParaRPr lang="en-US" sz="1400" dirty="0"/>
          </a:p>
          <a:p>
            <a:pPr indent="0" marL="0">
              <a:buNone/>
            </a:pPr>
            <a:r>
              <a:rPr lang="en-US" sz="1200" dirty="0">
                <a:solidFill>
                  <a:srgbClr val="52514E"/>
                </a:solidFill>
                <a:latin typeface="Calibri" pitchFamily="34" charset="0"/>
                <a:ea typeface="Calibri" pitchFamily="34" charset="-122"/>
                <a:cs typeface="Calibri" pitchFamily="34" charset="-120"/>
              </a:rPr>
              <a:t>5-fold CV on train; GridSearchCV over 16 XGBoost settings; test set used once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3 · Regression &amp; Classification Implementation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Classification: a leakage-free pipeline for 11% positives</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sp>
        <p:nvSpPr>
          <p:cNvPr id="7" name="Text 4"/>
          <p:cNvSpPr txBox="1"/>
          <p:nvPr/>
        </p:nvSpPr>
        <p:spPr>
          <a:xfrm>
            <a:off x="548640" y="1618488"/>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1078992" y="1600200"/>
            <a:ext cx="6236208" cy="64008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Clean</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12 duplicate rows removed; 'unknown' kept as its own category (it carries signal)</a:t>
            </a:r>
            <a:endParaRPr lang="en-US" sz="1300" dirty="0"/>
          </a:p>
        </p:txBody>
      </p:sp>
      <p:sp>
        <p:nvSpPr>
          <p:cNvPr id="9" name="Text 6"/>
          <p:cNvSpPr txBox="1"/>
          <p:nvPr/>
        </p:nvSpPr>
        <p:spPr>
          <a:xfrm>
            <a:off x="548640" y="2276856"/>
            <a:ext cx="384048" cy="384048"/>
          </a:xfrm>
          <a:prstGeom prst="ellipse">
            <a:avLst/>
          </a:prstGeom>
          <a:solidFill>
            <a:srgbClr val="EB683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7"/>
          <p:cNvSpPr txBox="1"/>
          <p:nvPr/>
        </p:nvSpPr>
        <p:spPr>
          <a:xfrm>
            <a:off x="1078992" y="2258568"/>
            <a:ext cx="6236208" cy="64008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Remove leakage</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Dropped 'duration': known only after the call ends (r = 0.41 with target)</a:t>
            </a:r>
            <a:endParaRPr lang="en-US" sz="1300" dirty="0"/>
          </a:p>
        </p:txBody>
      </p:sp>
      <p:sp>
        <p:nvSpPr>
          <p:cNvPr id="11" name="Text 8"/>
          <p:cNvSpPr txBox="1"/>
          <p:nvPr/>
        </p:nvSpPr>
        <p:spPr>
          <a:xfrm>
            <a:off x="548640" y="2935224"/>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2" name="Text 9"/>
          <p:cNvSpPr txBox="1"/>
          <p:nvPr/>
        </p:nvSpPr>
        <p:spPr>
          <a:xfrm>
            <a:off x="1078992" y="2916936"/>
            <a:ext cx="6236208" cy="64008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Engineer</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pdays = 999 (never contacted, 96%) → binary prev_contacted flag</a:t>
            </a:r>
            <a:endParaRPr lang="en-US" sz="1300" dirty="0"/>
          </a:p>
        </p:txBody>
      </p:sp>
      <p:sp>
        <p:nvSpPr>
          <p:cNvPr id="13" name="Text 10"/>
          <p:cNvSpPr txBox="1"/>
          <p:nvPr/>
        </p:nvSpPr>
        <p:spPr>
          <a:xfrm>
            <a:off x="548640" y="3593592"/>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4" name="Text 11"/>
          <p:cNvSpPr txBox="1"/>
          <p:nvPr/>
        </p:nvSpPr>
        <p:spPr>
          <a:xfrm>
            <a:off x="1078992" y="3575304"/>
            <a:ext cx="6236208" cy="64008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Encode &amp; scale</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ColumnTransformer: one-hot for 10 categorical, StandardScaler for 9 numeric features</a:t>
            </a:r>
            <a:endParaRPr lang="en-US" sz="1300" dirty="0"/>
          </a:p>
        </p:txBody>
      </p:sp>
      <p:sp>
        <p:nvSpPr>
          <p:cNvPr id="15" name="Text 12"/>
          <p:cNvSpPr txBox="1"/>
          <p:nvPr/>
        </p:nvSpPr>
        <p:spPr>
          <a:xfrm>
            <a:off x="548640" y="4251960"/>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6" name="Text 13"/>
          <p:cNvSpPr txBox="1"/>
          <p:nvPr/>
        </p:nvSpPr>
        <p:spPr>
          <a:xfrm>
            <a:off x="1078992" y="4233672"/>
            <a:ext cx="6236208" cy="64008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Split</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Stratified 80 / 20 (32,940 / 8,236), keeps 11.3% positives in both sets</a:t>
            </a:r>
            <a:endParaRPr lang="en-US" sz="1300" dirty="0"/>
          </a:p>
        </p:txBody>
      </p:sp>
      <p:sp>
        <p:nvSpPr>
          <p:cNvPr id="17" name="Text 14"/>
          <p:cNvSpPr txBox="1"/>
          <p:nvPr/>
        </p:nvSpPr>
        <p:spPr>
          <a:xfrm>
            <a:off x="548640" y="4910328"/>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8" name="Text 15"/>
          <p:cNvSpPr txBox="1"/>
          <p:nvPr/>
        </p:nvSpPr>
        <p:spPr>
          <a:xfrm>
            <a:off x="1078992" y="4892040"/>
            <a:ext cx="6236208" cy="64008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Handle imbalance</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Class weights · SMOTE (inside CV folds) · decision-threshold tuning on out-of-fold predictions</a:t>
            </a:r>
            <a:endParaRPr lang="en-US" sz="1300" dirty="0"/>
          </a:p>
        </p:txBody>
      </p:sp>
      <p:sp>
        <p:nvSpPr>
          <p:cNvPr id="19" name="Text 16"/>
          <p:cNvSpPr txBox="1"/>
          <p:nvPr/>
        </p:nvSpPr>
        <p:spPr>
          <a:xfrm>
            <a:off x="548640" y="5568696"/>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0" name="Text 17"/>
          <p:cNvSpPr txBox="1"/>
          <p:nvPr/>
        </p:nvSpPr>
        <p:spPr>
          <a:xfrm>
            <a:off x="1078992" y="5550408"/>
            <a:ext cx="6236208" cy="64008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Models</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Baseline, Logistic Regression ×3, Naive Bayes, KNN, Decision Tree, Random Forest, Gradient Boosting, XGBoost</a:t>
            </a:r>
            <a:endParaRPr lang="en-US" sz="1300" dirty="0"/>
          </a:p>
        </p:txBody>
      </p:sp>
      <p:pic>
        <p:nvPicPr>
          <p:cNvPr id="21" name="Image 0" descr="/Users/ompathania/Desktop/ML_Project_5th_sem/code/outputs/figures/bk_target_balance.png">    </p:cNvPr>
          <p:cNvPicPr>
            <a:picLocks noChangeAspect="1"/>
          </p:cNvPicPr>
          <p:nvPr/>
        </p:nvPicPr>
        <p:blipFill>
          <a:blip r:embed="rId1"/>
          <a:stretch>
            <a:fillRect/>
          </a:stretch>
        </p:blipFill>
        <p:spPr>
          <a:xfrm>
            <a:off x="7680960" y="1645920"/>
            <a:ext cx="3962095" cy="2652211"/>
          </a:xfrm>
          <a:prstGeom prst="rect">
            <a:avLst/>
          </a:prstGeom>
        </p:spPr>
      </p:pic>
      <p:sp>
        <p:nvSpPr>
          <p:cNvPr id="22" name="Shape 18"/>
          <p:cNvSpPr/>
          <p:nvPr/>
        </p:nvSpPr>
        <p:spPr>
          <a:xfrm>
            <a:off x="7680960" y="4617720"/>
            <a:ext cx="3962095" cy="1600200"/>
          </a:xfrm>
          <a:prstGeom prst="roundRect">
            <a:avLst>
              <a:gd name="adj" fmla="val 5714"/>
            </a:avLst>
          </a:prstGeom>
          <a:solidFill>
            <a:srgbClr val="FDF0EA"/>
          </a:solidFill>
          <a:ln w="12700">
            <a:solidFill>
              <a:srgbClr val="FDF0EA"/>
            </a:solidFill>
            <a:prstDash val="solid"/>
          </a:ln>
        </p:spPr>
      </p:sp>
      <p:sp>
        <p:nvSpPr>
          <p:cNvPr id="23" name="Text 19"/>
          <p:cNvSpPr txBox="1"/>
          <p:nvPr/>
        </p:nvSpPr>
        <p:spPr>
          <a:xfrm>
            <a:off x="7863840" y="4709160"/>
            <a:ext cx="3596335" cy="1417320"/>
          </a:xfrm>
          <a:prstGeom prst="rect">
            <a:avLst/>
          </a:prstGeom>
          <a:noFill/>
          <a:ln/>
        </p:spPr>
        <p:txBody>
          <a:bodyPr wrap="square" lIns="0" tIns="0" rIns="0" bIns="0" rtlCol="0" anchor="t"/>
          <a:lstStyle/>
          <a:p>
            <a:pPr indent="0" marL="0">
              <a:buNone/>
            </a:pPr>
            <a:r>
              <a:rPr lang="en-US" sz="1500" b="1" dirty="0">
                <a:solidFill>
                  <a:srgbClr val="EB6834"/>
                </a:solidFill>
                <a:latin typeface="Calibri" pitchFamily="34" charset="0"/>
                <a:ea typeface="Calibri" pitchFamily="34" charset="-122"/>
                <a:cs typeface="Calibri" pitchFamily="34" charset="-120"/>
              </a:rPr>
              <a:t>Why not accuracy?</a:t>
            </a:r>
            <a:endParaRPr lang="en-US" sz="1500" dirty="0"/>
          </a:p>
          <a:p>
            <a:pPr indent="0" marL="0">
              <a:buNone/>
            </a:pPr>
            <a:r>
              <a:rPr lang="en-US" sz="1300" dirty="0">
                <a:solidFill>
                  <a:srgbClr val="52514E"/>
                </a:solidFill>
                <a:latin typeface="Calibri" pitchFamily="34" charset="0"/>
                <a:ea typeface="Calibri" pitchFamily="34" charset="-122"/>
                <a:cs typeface="Calibri" pitchFamily="34" charset="-120"/>
              </a:rPr>
              <a:t>A model that always says "no" is 88.7% accurate and finds zero subscribers. We judge models by F1, recall, ROC-AUC and PR-AUC.</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4 · Comparative Performance Analysis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Regression: tuned XGBoost cuts error by 31%</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graphicFrame>
        <p:nvGraphicFramePr>
          <p:cNvPr id="7" name="Chart 0" descr=""/>
          <p:cNvGraphicFramePr/>
          <p:nvPr/>
        </p:nvGraphicFramePr>
        <p:xfrm>
          <a:off x="548640" y="1554480"/>
          <a:ext cx="7040880" cy="47091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909560" y="1600200"/>
            <a:ext cx="3733495" cy="1005840"/>
          </a:xfrm>
          <a:prstGeom prst="roundRect">
            <a:avLst>
              <a:gd name="adj" fmla="val 9091"/>
            </a:avLst>
          </a:prstGeom>
          <a:solidFill>
            <a:srgbClr val="FDF0EA"/>
          </a:solidFill>
          <a:ln w="12700">
            <a:solidFill>
              <a:srgbClr val="FDF0EA"/>
            </a:solidFill>
            <a:prstDash val="solid"/>
          </a:ln>
        </p:spPr>
      </p:sp>
      <p:sp>
        <p:nvSpPr>
          <p:cNvPr id="9" name="Text 5"/>
          <p:cNvSpPr txBox="1"/>
          <p:nvPr/>
        </p:nvSpPr>
        <p:spPr>
          <a:xfrm>
            <a:off x="8092440" y="1673352"/>
            <a:ext cx="3367735" cy="859536"/>
          </a:xfrm>
          <a:prstGeom prst="rect">
            <a:avLst/>
          </a:prstGeom>
          <a:noFill/>
          <a:ln/>
        </p:spPr>
        <p:txBody>
          <a:bodyPr wrap="square" lIns="0" tIns="0" rIns="0" bIns="0" rtlCol="0" anchor="ctr"/>
          <a:lstStyle/>
          <a:p>
            <a:pPr indent="0" marL="0">
              <a:buNone/>
            </a:pPr>
            <a:r>
              <a:rPr lang="en-US" sz="2600" b="1" dirty="0">
                <a:solidFill>
                  <a:srgbClr val="EB6834"/>
                </a:solidFill>
                <a:latin typeface="Arial" pitchFamily="34" charset="0"/>
                <a:ea typeface="Arial" pitchFamily="34" charset="-122"/>
                <a:cs typeface="Arial" pitchFamily="34" charset="-120"/>
              </a:rPr>
              <a:t>3.17 MW</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test RMSE of tuned XGBoost (Linear: 4.59)</a:t>
            </a:r>
            <a:endParaRPr lang="en-US" sz="2600" dirty="0"/>
          </a:p>
        </p:txBody>
      </p:sp>
      <p:sp>
        <p:nvSpPr>
          <p:cNvPr id="10" name="Shape 6"/>
          <p:cNvSpPr/>
          <p:nvPr/>
        </p:nvSpPr>
        <p:spPr>
          <a:xfrm>
            <a:off x="7909560" y="2788920"/>
            <a:ext cx="3733495" cy="1005840"/>
          </a:xfrm>
          <a:prstGeom prst="roundRect">
            <a:avLst>
              <a:gd name="adj" fmla="val 9091"/>
            </a:avLst>
          </a:prstGeom>
          <a:solidFill>
            <a:srgbClr val="EEF4FC"/>
          </a:solidFill>
          <a:ln w="12700">
            <a:solidFill>
              <a:srgbClr val="EEF4FC"/>
            </a:solidFill>
            <a:prstDash val="solid"/>
          </a:ln>
        </p:spPr>
      </p:sp>
      <p:sp>
        <p:nvSpPr>
          <p:cNvPr id="11" name="Text 7"/>
          <p:cNvSpPr txBox="1"/>
          <p:nvPr/>
        </p:nvSpPr>
        <p:spPr>
          <a:xfrm>
            <a:off x="8092440" y="2862072"/>
            <a:ext cx="3367735" cy="85953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−31%</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error vs Linear Regression baseline</a:t>
            </a:r>
            <a:endParaRPr lang="en-US" sz="2600" dirty="0"/>
          </a:p>
        </p:txBody>
      </p:sp>
      <p:sp>
        <p:nvSpPr>
          <p:cNvPr id="12" name="Shape 8"/>
          <p:cNvSpPr/>
          <p:nvPr/>
        </p:nvSpPr>
        <p:spPr>
          <a:xfrm>
            <a:off x="7909560" y="3977640"/>
            <a:ext cx="3733495" cy="1005840"/>
          </a:xfrm>
          <a:prstGeom prst="roundRect">
            <a:avLst>
              <a:gd name="adj" fmla="val 9091"/>
            </a:avLst>
          </a:prstGeom>
          <a:solidFill>
            <a:srgbClr val="EEF4FC"/>
          </a:solidFill>
          <a:ln w="12700">
            <a:solidFill>
              <a:srgbClr val="EEF4FC"/>
            </a:solidFill>
            <a:prstDash val="solid"/>
          </a:ln>
        </p:spPr>
      </p:sp>
      <p:sp>
        <p:nvSpPr>
          <p:cNvPr id="13" name="Text 9"/>
          <p:cNvSpPr txBox="1"/>
          <p:nvPr/>
        </p:nvSpPr>
        <p:spPr>
          <a:xfrm>
            <a:off x="8092440" y="4050792"/>
            <a:ext cx="3367735" cy="85953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R² 0.966</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on test; 5-fold CV 0.967 ± 0.003</a:t>
            </a:r>
            <a:endParaRPr lang="en-US" sz="2600" dirty="0"/>
          </a:p>
        </p:txBody>
      </p:sp>
      <p:sp>
        <p:nvSpPr>
          <p:cNvPr id="14" name="Shape 10"/>
          <p:cNvSpPr/>
          <p:nvPr/>
        </p:nvSpPr>
        <p:spPr>
          <a:xfrm>
            <a:off x="7909560" y="5166360"/>
            <a:ext cx="3733495" cy="1005840"/>
          </a:xfrm>
          <a:prstGeom prst="roundRect">
            <a:avLst>
              <a:gd name="adj" fmla="val 9091"/>
            </a:avLst>
          </a:prstGeom>
          <a:solidFill>
            <a:srgbClr val="EEF4FC"/>
          </a:solidFill>
          <a:ln w="12700">
            <a:solidFill>
              <a:srgbClr val="EEF4FC"/>
            </a:solidFill>
            <a:prstDash val="solid"/>
          </a:ln>
        </p:spPr>
      </p:sp>
      <p:sp>
        <p:nvSpPr>
          <p:cNvPr id="15" name="Text 11"/>
          <p:cNvSpPr txBox="1"/>
          <p:nvPr/>
        </p:nvSpPr>
        <p:spPr>
          <a:xfrm>
            <a:off x="8092440" y="5239512"/>
            <a:ext cx="3367735" cy="859536"/>
          </a:xfrm>
          <a:prstGeom prst="rect">
            <a:avLst/>
          </a:prstGeom>
          <a:noFill/>
          <a:ln/>
        </p:spPr>
        <p:txBody>
          <a:bodyPr wrap="square" lIns="0" tIns="0" rIns="0" bIns="0" rtlCol="0" anchor="ctr"/>
          <a:lstStyle/>
          <a:p>
            <a:pPr indent="0" marL="0">
              <a:buNone/>
            </a:pPr>
            <a:r>
              <a:rPr lang="en-US" sz="2600" b="1" dirty="0">
                <a:solidFill>
                  <a:srgbClr val="2A78D6"/>
                </a:solidFill>
                <a:latin typeface="Arial" pitchFamily="34" charset="0"/>
                <a:ea typeface="Arial" pitchFamily="34" charset="-122"/>
                <a:cs typeface="Arial" pitchFamily="34" charset="-120"/>
              </a:rPr>
              <a:t>2.17 MW</a:t>
            </a:r>
            <a:endParaRPr lang="en-US" sz="2600" dirty="0"/>
          </a:p>
          <a:p>
            <a:pPr indent="0" marL="0">
              <a:buNone/>
            </a:pPr>
            <a:r>
              <a:rPr lang="en-US" sz="1250" dirty="0">
                <a:solidFill>
                  <a:srgbClr val="52514E"/>
                </a:solidFill>
                <a:latin typeface="Calibri" pitchFamily="34" charset="0"/>
                <a:ea typeface="Calibri" pitchFamily="34" charset="-122"/>
                <a:cs typeface="Calibri" pitchFamily="34" charset="-120"/>
              </a:rPr>
              <a:t>mean absolute error (output range 420–496 MW)</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4 · Comparative Performance Analysis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Classification: 10 models compared on the right metrics</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410712"/>
                <a:gridCol w="1097280"/>
                <a:gridCol w="1097280"/>
                <a:gridCol w="1097280"/>
                <a:gridCol w="1097280"/>
                <a:gridCol w="1097280"/>
                <a:gridCol w="1097280"/>
                <a:gridCol w="1097280"/>
              </a:tblGrid>
              <a:tr h="31089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CV ROC-AUC</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0F1F3D"/>
                    </a:solidFill>
                  </a:tcPr>
                </a:tc>
              </a:tr>
              <a:tr h="310896">
                <a:tc>
                  <a:txBody>
                    <a:bodyPr/>
                    <a:lstStyle/>
                    <a:p>
                      <a:pPr algn="l" indent="0" marL="0">
                        <a:buNone/>
                      </a:pPr>
                      <a:r>
                        <a:rPr lang="en-US" sz="1200" b="1" dirty="0">
                          <a:solidFill>
                            <a:srgbClr val="EB6834"/>
                          </a:solidFill>
                          <a:latin typeface="Calibri" pitchFamily="34" charset="0"/>
                          <a:ea typeface="Calibri" pitchFamily="34" charset="-122"/>
                          <a:cs typeface="Calibri" pitchFamily="34" charset="-120"/>
                        </a:rPr>
                        <a:t>XGBoost (weighted) @ thr 0.65</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0.881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0.479</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0.595</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c>
                  <a:txBody>
                    <a:bodyPr/>
                    <a:lstStyle/>
                    <a:p>
                      <a:pPr algn="ctr" indent="0" marL="0">
                        <a:buNone/>
                      </a:pPr>
                      <a:r>
                        <a:rPr lang="en-US" sz="1200" b="1" dirty="0">
                          <a:solidFill>
                            <a:srgbClr val="52514E"/>
                          </a:solidFill>
                          <a:latin typeface="Calibri" pitchFamily="34" charset="0"/>
                          <a:ea typeface="Calibri" pitchFamily="34" charset="-122"/>
                          <a:cs typeface="Calibri" pitchFamily="34" charset="-120"/>
                        </a:rPr>
                        <a:t>0.531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c>
                  <a:txBody>
                    <a:bodyPr/>
                    <a:lstStyle/>
                    <a:p>
                      <a:pPr algn="ctr" indent="0" marL="0">
                        <a:buNone/>
                      </a:pPr>
                      <a:r>
                        <a:rPr lang="en-US" sz="1200" b="1" dirty="0">
                          <a:solidFill>
                            <a:srgbClr val="52514E"/>
                          </a:solidFill>
                          <a:latin typeface="Calibri" pitchFamily="34" charset="0"/>
                          <a:ea typeface="Calibri" pitchFamily="34" charset="-122"/>
                          <a:cs typeface="Calibri" pitchFamily="34" charset="-120"/>
                        </a:rPr>
                        <a:t>0.812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0.484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0.801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F0EA"/>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Random Forest (balanced)</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0.873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0.454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0.617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0.523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0.807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0.484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0.794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XGBoost (weighted)</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0.845</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0.388</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0.654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0.487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0.812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0.484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0.801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Decision Tree (balanced)</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0.847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0.390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0.637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0.484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0.801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0.460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0.781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Logistic Reg. (balanced)</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0.831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0.360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0.645</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0.462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0.800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0.446</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0.791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Logistic Reg. + SMOTE</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0.822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0.347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0.654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0.453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0.799</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0.445</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0.787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Naive Bayes</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0.808</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0.320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0.624</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0.423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0.776</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0.359</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0.766</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KNN (k=15)</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0.898</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0.612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0.263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0.368</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0.773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0.419</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0.759</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0.899</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0.645</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0.233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0.342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0.811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0.480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0.797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r>
              <a:tr h="310896">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0.898</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0.652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0.212</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0.320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0.801</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0.453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0.790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898781"/>
                          </a:solidFill>
                          <a:latin typeface="Calibri" pitchFamily="34" charset="0"/>
                          <a:ea typeface="Calibri" pitchFamily="34" charset="-122"/>
                          <a:cs typeface="Calibri" pitchFamily="34" charset="-120"/>
                        </a:rPr>
                        <a:t>Baseline (always 'no')</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898781"/>
                          </a:solidFill>
                          <a:latin typeface="Calibri" pitchFamily="34" charset="0"/>
                          <a:ea typeface="Calibri" pitchFamily="34" charset="-122"/>
                          <a:cs typeface="Calibri" pitchFamily="34" charset="-120"/>
                        </a:rPr>
                        <a:t>0.887</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898781"/>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898781"/>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898781"/>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898781"/>
                          </a:solidFill>
                          <a:latin typeface="Calibri" pitchFamily="34" charset="0"/>
                          <a:ea typeface="Calibri" pitchFamily="34" charset="-122"/>
                          <a:cs typeface="Calibri" pitchFamily="34" charset="-120"/>
                        </a:rPr>
                        <a:t>0.500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898781"/>
                          </a:solidFill>
                          <a:latin typeface="Calibri" pitchFamily="34" charset="0"/>
                          <a:ea typeface="Calibri" pitchFamily="34" charset="-122"/>
                          <a:cs typeface="Calibri" pitchFamily="34" charset="-120"/>
                        </a:rPr>
                        <a:t>0.113</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c>
                  <a:txBody>
                    <a:bodyPr/>
                    <a:lstStyle/>
                    <a:p>
                      <a:pPr algn="ctr" indent="0" marL="0">
                        <a:buNone/>
                      </a:pPr>
                      <a:r>
                        <a:rPr lang="en-US" sz="1200" dirty="0">
                          <a:solidFill>
                            <a:srgbClr val="898781"/>
                          </a:solidFill>
                          <a:latin typeface="Calibri" pitchFamily="34" charset="0"/>
                          <a:ea typeface="Calibri" pitchFamily="34" charset="-122"/>
                          <a:cs typeface="Calibri" pitchFamily="34" charset="-120"/>
                        </a:rPr>
                        <a:t>0.500</a:t>
                      </a:r>
                      <a:endParaRPr lang="en-US" sz="1200" dirty="0">
                        <a:latin typeface="Calibri" charset="0"/>
                        <a:ea typeface="Calibri" charset="0"/>
                        <a:cs typeface="Calibri" charset="0"/>
                      </a:endParaRPr>
                    </a:p>
                  </a:txBody>
                  <a:tcPr marL="76200" marR="76200" marT="25400" marB="2540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7F9FC"/>
                    </a:solidFill>
                  </a:tcPr>
                </a:tc>
              </a:tr>
            </a:tbl>
          </a:graphicData>
        </a:graphic>
      </p:graphicFrame>
      <p:sp>
        <p:nvSpPr>
          <p:cNvPr id="8" name="Shape 4"/>
          <p:cNvSpPr/>
          <p:nvPr/>
        </p:nvSpPr>
        <p:spPr>
          <a:xfrm>
            <a:off x="548640" y="5532120"/>
            <a:ext cx="11094415" cy="731520"/>
          </a:xfrm>
          <a:prstGeom prst="roundRect">
            <a:avLst>
              <a:gd name="adj" fmla="val 12500"/>
            </a:avLst>
          </a:prstGeom>
          <a:solidFill>
            <a:srgbClr val="EEF4FC"/>
          </a:solidFill>
          <a:ln w="12700">
            <a:solidFill>
              <a:srgbClr val="EEF4FC"/>
            </a:solidFill>
            <a:prstDash val="solid"/>
          </a:ln>
        </p:spPr>
      </p:sp>
      <p:sp>
        <p:nvSpPr>
          <p:cNvPr id="9" name="Text 5"/>
          <p:cNvSpPr txBox="1"/>
          <p:nvPr/>
        </p:nvSpPr>
        <p:spPr>
          <a:xfrm>
            <a:off x="777240" y="5577840"/>
            <a:ext cx="10637215" cy="6400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Accuracy trap: </a:t>
            </a:r>
            <a:pPr indent="0" marL="0">
              <a:buNone/>
            </a:pPr>
            <a:r>
              <a:rPr lang="en-US" sz="1300" dirty="0">
                <a:solidFill>
                  <a:srgbClr val="52514E"/>
                </a:solidFill>
                <a:latin typeface="Calibri" pitchFamily="34" charset="0"/>
                <a:ea typeface="Calibri" pitchFamily="34" charset="-122"/>
                <a:cs typeface="Calibri" pitchFamily="34" charset="-120"/>
              </a:rPr>
              <a:t>"always no" scores 88.7% accuracy with 0 recall. Plain Logistic Regression looks just as accurate (89.8%) but finds only 21% of subscribers. Sorted by test F1; CV = stratified 5-fold on the training set.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4 · Comparative Performance Analysis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Classification: ranking quality and the threshold trade-off</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pic>
        <p:nvPicPr>
          <p:cNvPr id="7" name="Image 0" descr="/Users/ompathania/Desktop/ML_Project_5th_sem/code/outputs/figures/bk_roc_pr.png">    </p:cNvPr>
          <p:cNvPicPr>
            <a:picLocks noChangeAspect="1"/>
          </p:cNvPicPr>
          <p:nvPr/>
        </p:nvPicPr>
        <p:blipFill>
          <a:blip r:embed="rId1"/>
          <a:stretch>
            <a:fillRect/>
          </a:stretch>
        </p:blipFill>
        <p:spPr>
          <a:xfrm>
            <a:off x="548640" y="1554480"/>
            <a:ext cx="5852160" cy="2297814"/>
          </a:xfrm>
          <a:prstGeom prst="rect">
            <a:avLst/>
          </a:prstGeom>
        </p:spPr>
      </p:pic>
      <p:pic>
        <p:nvPicPr>
          <p:cNvPr id="8" name="Image 1" descr="/Users/ompathania/Desktop/ML_Project_5th_sem/code/outputs/figures/bk_confusion.png">    </p:cNvPr>
          <p:cNvPicPr>
            <a:picLocks noChangeAspect="1"/>
          </p:cNvPicPr>
          <p:nvPr/>
        </p:nvPicPr>
        <p:blipFill>
          <a:blip r:embed="rId2"/>
          <a:stretch>
            <a:fillRect/>
          </a:stretch>
        </p:blipFill>
        <p:spPr>
          <a:xfrm>
            <a:off x="548640" y="4023360"/>
            <a:ext cx="5852160" cy="2329672"/>
          </a:xfrm>
          <a:prstGeom prst="rect">
            <a:avLst/>
          </a:prstGeom>
        </p:spPr>
      </p:pic>
      <p:sp>
        <p:nvSpPr>
          <p:cNvPr id="9" name="Shape 4"/>
          <p:cNvSpPr/>
          <p:nvPr/>
        </p:nvSpPr>
        <p:spPr>
          <a:xfrm>
            <a:off x="6720840" y="1645920"/>
            <a:ext cx="4922215" cy="2114934"/>
          </a:xfrm>
          <a:prstGeom prst="roundRect">
            <a:avLst>
              <a:gd name="adj" fmla="val 4324"/>
            </a:avLst>
          </a:prstGeom>
          <a:solidFill>
            <a:srgbClr val="EEF4FC"/>
          </a:solidFill>
          <a:ln w="12700">
            <a:solidFill>
              <a:srgbClr val="EEF4FC"/>
            </a:solidFill>
            <a:prstDash val="solid"/>
          </a:ln>
        </p:spPr>
      </p:sp>
      <p:sp>
        <p:nvSpPr>
          <p:cNvPr id="10" name="Text 5"/>
          <p:cNvSpPr txBox="1"/>
          <p:nvPr/>
        </p:nvSpPr>
        <p:spPr>
          <a:xfrm>
            <a:off x="6949440" y="1737360"/>
            <a:ext cx="4465015" cy="1932054"/>
          </a:xfrm>
          <a:prstGeom prst="rect">
            <a:avLst/>
          </a:prstGeom>
          <a:noFill/>
          <a:ln/>
        </p:spPr>
        <p:txBody>
          <a:bodyPr wrap="square" lIns="0" tIns="0" rIns="0" bIns="0" rtlCol="0" anchor="ctr"/>
          <a:lstStyle/>
          <a:p>
            <a:pPr indent="0" marL="0">
              <a:buNone/>
            </a:pPr>
            <a:r>
              <a:rPr lang="en-US" sz="1500" b="1" dirty="0">
                <a:solidFill>
                  <a:srgbClr val="2A78D6"/>
                </a:solidFill>
                <a:latin typeface="Calibri" pitchFamily="34" charset="0"/>
                <a:ea typeface="Calibri" pitchFamily="34" charset="-122"/>
                <a:cs typeface="Calibri" pitchFamily="34" charset="-120"/>
              </a:rPr>
              <a:t>Similar ranking ability</a:t>
            </a:r>
            <a:endParaRPr lang="en-US" sz="1500" dirty="0"/>
          </a:p>
          <a:p>
            <a:pPr indent="0" marL="0">
              <a:buNone/>
            </a:pPr>
            <a:r>
              <a:rPr lang="en-US" sz="1300" dirty="0">
                <a:solidFill>
                  <a:srgbClr val="52514E"/>
                </a:solidFill>
                <a:latin typeface="Calibri" pitchFamily="34" charset="0"/>
                <a:ea typeface="Calibri" pitchFamily="34" charset="-122"/>
                <a:cs typeface="Calibri" pitchFamily="34" charset="-120"/>
              </a:rPr>
              <a:t>ROC-AUC 0.812 for XGBoost vs 0.800 for balanced Logistic Regression. All good models are 4× better than random at precision–recall (PR-AUC 0.484 vs 0.113).</a:t>
            </a:r>
            <a:endParaRPr lang="en-US" sz="1500" dirty="0"/>
          </a:p>
        </p:txBody>
      </p:sp>
      <p:sp>
        <p:nvSpPr>
          <p:cNvPr id="11" name="Shape 6"/>
          <p:cNvSpPr/>
          <p:nvPr/>
        </p:nvSpPr>
        <p:spPr>
          <a:xfrm>
            <a:off x="6720840" y="4114800"/>
            <a:ext cx="4922215" cy="2146792"/>
          </a:xfrm>
          <a:prstGeom prst="roundRect">
            <a:avLst>
              <a:gd name="adj" fmla="val 4259"/>
            </a:avLst>
          </a:prstGeom>
          <a:solidFill>
            <a:srgbClr val="FDF0EA"/>
          </a:solidFill>
          <a:ln w="12700">
            <a:solidFill>
              <a:srgbClr val="FDF0EA"/>
            </a:solidFill>
            <a:prstDash val="solid"/>
          </a:ln>
        </p:spPr>
      </p:sp>
      <p:sp>
        <p:nvSpPr>
          <p:cNvPr id="12" name="Text 7"/>
          <p:cNvSpPr txBox="1"/>
          <p:nvPr/>
        </p:nvSpPr>
        <p:spPr>
          <a:xfrm>
            <a:off x="6949440" y="4206240"/>
            <a:ext cx="4465015" cy="1963912"/>
          </a:xfrm>
          <a:prstGeom prst="rect">
            <a:avLst/>
          </a:prstGeom>
          <a:noFill/>
          <a:ln/>
        </p:spPr>
        <p:txBody>
          <a:bodyPr wrap="square" lIns="0" tIns="0" rIns="0" bIns="0" rtlCol="0" anchor="ctr"/>
          <a:lstStyle/>
          <a:p>
            <a:pPr indent="0" marL="0">
              <a:buNone/>
            </a:pPr>
            <a:r>
              <a:rPr lang="en-US" sz="1500" b="1" dirty="0">
                <a:solidFill>
                  <a:srgbClr val="EB6834"/>
                </a:solidFill>
                <a:latin typeface="Calibri" pitchFamily="34" charset="0"/>
                <a:ea typeface="Calibri" pitchFamily="34" charset="-122"/>
                <a:cs typeface="Calibri" pitchFamily="34" charset="-120"/>
              </a:rPr>
              <a:t>Threshold 0.50 → 0.65</a:t>
            </a:r>
            <a:endParaRPr lang="en-US" sz="1500" dirty="0"/>
          </a:p>
          <a:p>
            <a:pPr indent="0" marL="0">
              <a:buNone/>
            </a:pPr>
            <a:r>
              <a:rPr lang="en-US" sz="1300" dirty="0">
                <a:solidFill>
                  <a:srgbClr val="52514E"/>
                </a:solidFill>
                <a:latin typeface="Calibri" pitchFamily="34" charset="0"/>
                <a:ea typeface="Calibri" pitchFamily="34" charset="-122"/>
                <a:cs typeface="Calibri" pitchFamily="34" charset="-120"/>
              </a:rPr>
              <a:t>Wasted calls (false positives) drop from 957 to 601 (−37%), while subscribers found fall only from 607 to 552. Precision rises from 0.39 to 0.48.</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5 · Result Interpretation &amp; Presentation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Regression results: accurate, unbiased, temperature-driven</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pic>
        <p:nvPicPr>
          <p:cNvPr id="7" name="Image 0" descr="/Users/ompathania/Desktop/ML_Project_5th_sem/code/outputs/figures/cc_best_diagnostics.png">    </p:cNvPr>
          <p:cNvPicPr>
            <a:picLocks noChangeAspect="1"/>
          </p:cNvPicPr>
          <p:nvPr/>
        </p:nvPicPr>
        <p:blipFill>
          <a:blip r:embed="rId1"/>
          <a:stretch>
            <a:fillRect/>
          </a:stretch>
        </p:blipFill>
        <p:spPr>
          <a:xfrm>
            <a:off x="596732" y="1554480"/>
            <a:ext cx="10998232" cy="3246120"/>
          </a:xfrm>
          <a:prstGeom prst="rect">
            <a:avLst/>
          </a:prstGeom>
        </p:spPr>
      </p:pic>
      <p:sp>
        <p:nvSpPr>
          <p:cNvPr id="8" name="Shape 4"/>
          <p:cNvSpPr/>
          <p:nvPr/>
        </p:nvSpPr>
        <p:spPr>
          <a:xfrm>
            <a:off x="548640" y="4983480"/>
            <a:ext cx="3515258" cy="1143000"/>
          </a:xfrm>
          <a:prstGeom prst="roundRect">
            <a:avLst>
              <a:gd name="adj" fmla="val 8000"/>
            </a:avLst>
          </a:prstGeom>
          <a:solidFill>
            <a:srgbClr val="EEF4FC"/>
          </a:solidFill>
          <a:ln w="12700">
            <a:solidFill>
              <a:srgbClr val="EEF4FC"/>
            </a:solidFill>
            <a:prstDash val="solid"/>
          </a:ln>
        </p:spPr>
      </p:sp>
      <p:sp>
        <p:nvSpPr>
          <p:cNvPr id="9" name="Text 5"/>
          <p:cNvSpPr txBox="1"/>
          <p:nvPr/>
        </p:nvSpPr>
        <p:spPr>
          <a:xfrm>
            <a:off x="731520" y="5074920"/>
            <a:ext cx="3149498" cy="1005840"/>
          </a:xfrm>
          <a:prstGeom prst="rect">
            <a:avLst/>
          </a:prstGeom>
          <a:noFill/>
          <a:ln/>
        </p:spPr>
        <p:txBody>
          <a:bodyPr wrap="square" lIns="0" tIns="0" rIns="0" bIns="0"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Accurate</a:t>
            </a:r>
            <a:endParaRPr lang="en-US" sz="1500" dirty="0"/>
          </a:p>
          <a:p>
            <a:pPr indent="0" marL="0">
              <a:buNone/>
            </a:pPr>
            <a:r>
              <a:rPr lang="en-US" sz="1250" dirty="0">
                <a:solidFill>
                  <a:srgbClr val="52514E"/>
                </a:solidFill>
                <a:latin typeface="Calibri" pitchFamily="34" charset="0"/>
                <a:ea typeface="Calibri" pitchFamily="34" charset="-122"/>
                <a:cs typeface="Calibri" pitchFamily="34" charset="-120"/>
              </a:rPr>
              <a:t>92% of hourly predictions fall within ±5 MW of the true output; R² 0.966.</a:t>
            </a:r>
            <a:endParaRPr lang="en-US" sz="1500" dirty="0"/>
          </a:p>
        </p:txBody>
      </p:sp>
      <p:sp>
        <p:nvSpPr>
          <p:cNvPr id="10" name="Shape 6"/>
          <p:cNvSpPr/>
          <p:nvPr/>
        </p:nvSpPr>
        <p:spPr>
          <a:xfrm>
            <a:off x="4338218" y="4983480"/>
            <a:ext cx="3515258" cy="1143000"/>
          </a:xfrm>
          <a:prstGeom prst="roundRect">
            <a:avLst>
              <a:gd name="adj" fmla="val 8000"/>
            </a:avLst>
          </a:prstGeom>
          <a:solidFill>
            <a:srgbClr val="EEF4FC"/>
          </a:solidFill>
          <a:ln w="12700">
            <a:solidFill>
              <a:srgbClr val="EEF4FC"/>
            </a:solidFill>
            <a:prstDash val="solid"/>
          </a:ln>
        </p:spPr>
      </p:sp>
      <p:sp>
        <p:nvSpPr>
          <p:cNvPr id="11" name="Text 7"/>
          <p:cNvSpPr txBox="1"/>
          <p:nvPr/>
        </p:nvSpPr>
        <p:spPr>
          <a:xfrm>
            <a:off x="4521098" y="5074920"/>
            <a:ext cx="3149498" cy="1005840"/>
          </a:xfrm>
          <a:prstGeom prst="rect">
            <a:avLst/>
          </a:prstGeom>
          <a:noFill/>
          <a:ln/>
        </p:spPr>
        <p:txBody>
          <a:bodyPr wrap="square" lIns="0" tIns="0" rIns="0" bIns="0"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Unbiased</a:t>
            </a:r>
            <a:endParaRPr lang="en-US" sz="1500" dirty="0"/>
          </a:p>
          <a:p>
            <a:pPr indent="0" marL="0">
              <a:buNone/>
            </a:pPr>
            <a:r>
              <a:rPr lang="en-US" sz="1250" dirty="0">
                <a:solidFill>
                  <a:srgbClr val="52514E"/>
                </a:solidFill>
                <a:latin typeface="Calibri" pitchFamily="34" charset="0"/>
                <a:ea typeface="Calibri" pitchFamily="34" charset="-122"/>
                <a:cs typeface="Calibri" pitchFamily="34" charset="-120"/>
              </a:rPr>
              <a:t>Residuals are centred at 0, symmetric and show no pattern across the output range → no systematic error.</a:t>
            </a:r>
            <a:endParaRPr lang="en-US" sz="1500" dirty="0"/>
          </a:p>
        </p:txBody>
      </p:sp>
      <p:sp>
        <p:nvSpPr>
          <p:cNvPr id="12" name="Shape 8"/>
          <p:cNvSpPr/>
          <p:nvPr/>
        </p:nvSpPr>
        <p:spPr>
          <a:xfrm>
            <a:off x="8127797" y="4983480"/>
            <a:ext cx="3515258" cy="1143000"/>
          </a:xfrm>
          <a:prstGeom prst="roundRect">
            <a:avLst>
              <a:gd name="adj" fmla="val 8000"/>
            </a:avLst>
          </a:prstGeom>
          <a:solidFill>
            <a:srgbClr val="FDF0EA"/>
          </a:solidFill>
          <a:ln w="12700">
            <a:solidFill>
              <a:srgbClr val="FDF0EA"/>
            </a:solidFill>
            <a:prstDash val="solid"/>
          </a:ln>
        </p:spPr>
      </p:sp>
      <p:sp>
        <p:nvSpPr>
          <p:cNvPr id="13" name="Text 9"/>
          <p:cNvSpPr txBox="1"/>
          <p:nvPr/>
        </p:nvSpPr>
        <p:spPr>
          <a:xfrm>
            <a:off x="8310677" y="5074920"/>
            <a:ext cx="3149498" cy="1005840"/>
          </a:xfrm>
          <a:prstGeom prst="rect">
            <a:avLst/>
          </a:prstGeom>
          <a:noFill/>
          <a:ln/>
        </p:spPr>
        <p:txBody>
          <a:bodyPr wrap="square" lIns="0" tIns="0" rIns="0" bIns="0" rtlCol="0" anchor="t"/>
          <a:lstStyle/>
          <a:p>
            <a:pPr indent="0" marL="0">
              <a:buNone/>
            </a:pPr>
            <a:r>
              <a:rPr lang="en-US" sz="1500" b="1" dirty="0">
                <a:solidFill>
                  <a:srgbClr val="EB6834"/>
                </a:solidFill>
                <a:latin typeface="Calibri" pitchFamily="34" charset="0"/>
                <a:ea typeface="Calibri" pitchFamily="34" charset="-122"/>
                <a:cs typeface="Calibri" pitchFamily="34" charset="-120"/>
              </a:rPr>
              <a:t>Temperature drives output</a:t>
            </a:r>
            <a:endParaRPr lang="en-US" sz="1500" dirty="0"/>
          </a:p>
          <a:p>
            <a:pPr indent="0" marL="0">
              <a:buNone/>
            </a:pPr>
            <a:r>
              <a:rPr lang="en-US" sz="1250" dirty="0">
                <a:solidFill>
                  <a:srgbClr val="52514E"/>
                </a:solidFill>
                <a:latin typeface="Calibri" pitchFamily="34" charset="0"/>
                <a:ea typeface="Calibri" pitchFamily="34" charset="-122"/>
                <a:cs typeface="Calibri" pitchFamily="34" charset="-120"/>
              </a:rPr>
              <a:t>Shuffling AT drops R² by 1.37 (V: 0.13). Linear model: -14.7 MW per +1 std of AT. Hot air = less power.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EEF4FC"/>
          </a:solidFill>
          <a:ln/>
        </p:spPr>
        <p:txBody>
          <a:bodyPr wrap="square" lIns="0" tIns="101600" rIns="101600" bIns="0" rtlCol="0" anchor="ctr"/>
          <a:lstStyle/>
          <a:p>
            <a:pPr indent="0" marL="0">
              <a:buNone/>
            </a:pPr>
            <a:r>
              <a:rPr lang="en-US" sz="1100" b="1" dirty="0">
                <a:solidFill>
                  <a:srgbClr val="2A78D6"/>
                </a:solidFill>
                <a:latin typeface="Calibri" pitchFamily="34" charset="0"/>
                <a:ea typeface="Calibri" pitchFamily="34" charset="-122"/>
                <a:cs typeface="Calibri" pitchFamily="34" charset="-120"/>
              </a:rPr>
              <a:t>Rubric 5 · Result Interpretation &amp; Presentation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Classification results: who to call, and why</a:t>
            </a:r>
            <a:endParaRPr lang="en-US" sz="2800" dirty="0"/>
          </a:p>
        </p:txBody>
      </p:sp>
      <p:sp>
        <p:nvSpPr>
          <p:cNvPr id="4" name="Text 2"/>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Group 10 · PBL Review 1</a:t>
            </a:r>
            <a:endParaRPr lang="en-US" sz="1000" dirty="0"/>
          </a:p>
        </p:txBody>
      </p:sp>
      <p:pic>
        <p:nvPicPr>
          <p:cNvPr id="7" name="Image 0" descr="/Users/ompathania/Desktop/ML_Project_5th_sem/code/outputs/figures/bk_gain_curve.png">    </p:cNvPr>
          <p:cNvPicPr>
            <a:picLocks noChangeAspect="1"/>
          </p:cNvPicPr>
          <p:nvPr/>
        </p:nvPicPr>
        <p:blipFill>
          <a:blip r:embed="rId1"/>
          <a:stretch>
            <a:fillRect/>
          </a:stretch>
        </p:blipFill>
        <p:spPr>
          <a:xfrm>
            <a:off x="548640" y="1600200"/>
            <a:ext cx="5394960" cy="3499201"/>
          </a:xfrm>
          <a:prstGeom prst="rect">
            <a:avLst/>
          </a:prstGeom>
        </p:spPr>
      </p:pic>
      <p:sp>
        <p:nvSpPr>
          <p:cNvPr id="8" name="Text 4"/>
          <p:cNvSpPr txBox="1"/>
          <p:nvPr/>
        </p:nvSpPr>
        <p:spPr>
          <a:xfrm>
            <a:off x="548640" y="5236561"/>
            <a:ext cx="5394960" cy="54864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Top 20% of scored clients → 67% of all subscribers (3.3× lift)</a:t>
            </a:r>
            <a:endParaRPr lang="en-US" sz="1300" dirty="0"/>
          </a:p>
        </p:txBody>
      </p:sp>
      <p:sp>
        <p:nvSpPr>
          <p:cNvPr id="9" name="Text 5"/>
          <p:cNvSpPr txBox="1"/>
          <p:nvPr/>
        </p:nvSpPr>
        <p:spPr>
          <a:xfrm>
            <a:off x="6355080" y="1600200"/>
            <a:ext cx="5287975"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What drives subscription</a:t>
            </a:r>
            <a:endParaRPr lang="en-US" sz="1600" dirty="0"/>
          </a:p>
        </p:txBody>
      </p:sp>
      <p:sp>
        <p:nvSpPr>
          <p:cNvPr id="10" name="Text 6"/>
          <p:cNvSpPr txBox="1"/>
          <p:nvPr/>
        </p:nvSpPr>
        <p:spPr>
          <a:xfrm>
            <a:off x="6355080" y="2057400"/>
            <a:ext cx="1239012" cy="329184"/>
          </a:xfrm>
          <a:prstGeom prst="roundRect">
            <a:avLst>
              <a:gd name="adj" fmla="val 22222"/>
            </a:avLst>
          </a:prstGeom>
          <a:solidFill>
            <a:srgbClr val="EEF4FC"/>
          </a:solidFill>
          <a:ln/>
        </p:spPr>
        <p:txBody>
          <a:bodyPr wrap="square" lIns="0" tIns="0" rIns="0" bIns="0" rtlCol="0" anchor="ctr"/>
          <a:lstStyle/>
          <a:p>
            <a:pPr algn="ctr" indent="0" marL="0">
              <a:buNone/>
            </a:pPr>
            <a:r>
              <a:rPr lang="en-US" sz="1200" b="1" dirty="0">
                <a:solidFill>
                  <a:srgbClr val="2A78D6"/>
                </a:solidFill>
                <a:latin typeface="Calibri" pitchFamily="34" charset="0"/>
                <a:ea typeface="Calibri" pitchFamily="34" charset="-122"/>
                <a:cs typeface="Calibri" pitchFamily="34" charset="-120"/>
              </a:rPr>
              <a:t>nr.employed</a:t>
            </a:r>
            <a:endParaRPr lang="en-US" sz="1200" dirty="0"/>
          </a:p>
        </p:txBody>
      </p:sp>
      <p:sp>
        <p:nvSpPr>
          <p:cNvPr id="11" name="Text 7"/>
          <p:cNvSpPr txBox="1"/>
          <p:nvPr/>
        </p:nvSpPr>
        <p:spPr>
          <a:xfrm>
            <a:off x="7703820" y="2057400"/>
            <a:ext cx="1335024" cy="329184"/>
          </a:xfrm>
          <a:prstGeom prst="roundRect">
            <a:avLst>
              <a:gd name="adj" fmla="val 22222"/>
            </a:avLst>
          </a:prstGeom>
          <a:solidFill>
            <a:srgbClr val="EEF4FC"/>
          </a:solidFill>
          <a:ln/>
        </p:spPr>
        <p:txBody>
          <a:bodyPr wrap="square" lIns="0" tIns="0" rIns="0" bIns="0" rtlCol="0" anchor="ctr"/>
          <a:lstStyle/>
          <a:p>
            <a:pPr algn="ctr" indent="0" marL="0">
              <a:buNone/>
            </a:pPr>
            <a:r>
              <a:rPr lang="en-US" sz="1200" b="1" dirty="0">
                <a:solidFill>
                  <a:srgbClr val="2A78D6"/>
                </a:solidFill>
                <a:latin typeface="Calibri" pitchFamily="34" charset="0"/>
                <a:ea typeface="Calibri" pitchFamily="34" charset="-122"/>
                <a:cs typeface="Calibri" pitchFamily="34" charset="-120"/>
              </a:rPr>
              <a:t>emp.var.rate</a:t>
            </a:r>
            <a:endParaRPr lang="en-US" sz="1200" dirty="0"/>
          </a:p>
        </p:txBody>
      </p:sp>
      <p:sp>
        <p:nvSpPr>
          <p:cNvPr id="12" name="Text 8"/>
          <p:cNvSpPr txBox="1"/>
          <p:nvPr/>
        </p:nvSpPr>
        <p:spPr>
          <a:xfrm>
            <a:off x="9148572" y="2057400"/>
            <a:ext cx="854964" cy="329184"/>
          </a:xfrm>
          <a:prstGeom prst="roundRect">
            <a:avLst>
              <a:gd name="adj" fmla="val 22222"/>
            </a:avLst>
          </a:prstGeom>
          <a:solidFill>
            <a:srgbClr val="EEF4FC"/>
          </a:solidFill>
          <a:ln/>
        </p:spPr>
        <p:txBody>
          <a:bodyPr wrap="square" lIns="0" tIns="0" rIns="0" bIns="0" rtlCol="0" anchor="ctr"/>
          <a:lstStyle/>
          <a:p>
            <a:pPr algn="ctr" indent="0" marL="0">
              <a:buNone/>
            </a:pPr>
            <a:r>
              <a:rPr lang="en-US" sz="1200" b="1" dirty="0">
                <a:solidFill>
                  <a:srgbClr val="2A78D6"/>
                </a:solidFill>
                <a:latin typeface="Calibri" pitchFamily="34" charset="0"/>
                <a:ea typeface="Calibri" pitchFamily="34" charset="-122"/>
                <a:cs typeface="Calibri" pitchFamily="34" charset="-120"/>
              </a:rPr>
              <a:t>contact</a:t>
            </a:r>
            <a:endParaRPr lang="en-US" sz="1200" dirty="0"/>
          </a:p>
        </p:txBody>
      </p:sp>
      <p:sp>
        <p:nvSpPr>
          <p:cNvPr id="13" name="Text 9"/>
          <p:cNvSpPr txBox="1"/>
          <p:nvPr/>
        </p:nvSpPr>
        <p:spPr>
          <a:xfrm>
            <a:off x="10113264" y="2057400"/>
            <a:ext cx="1046988" cy="329184"/>
          </a:xfrm>
          <a:prstGeom prst="roundRect">
            <a:avLst>
              <a:gd name="adj" fmla="val 22222"/>
            </a:avLst>
          </a:prstGeom>
          <a:solidFill>
            <a:srgbClr val="EEF4FC"/>
          </a:solidFill>
          <a:ln/>
        </p:spPr>
        <p:txBody>
          <a:bodyPr wrap="square" lIns="0" tIns="0" rIns="0" bIns="0" rtlCol="0" anchor="ctr"/>
          <a:lstStyle/>
          <a:p>
            <a:pPr algn="ctr" indent="0" marL="0">
              <a:buNone/>
            </a:pPr>
            <a:r>
              <a:rPr lang="en-US" sz="1200" b="1" dirty="0">
                <a:solidFill>
                  <a:srgbClr val="2A78D6"/>
                </a:solidFill>
                <a:latin typeface="Calibri" pitchFamily="34" charset="0"/>
                <a:ea typeface="Calibri" pitchFamily="34" charset="-122"/>
                <a:cs typeface="Calibri" pitchFamily="34" charset="-120"/>
              </a:rPr>
              <a:t>euribor3m</a:t>
            </a:r>
            <a:endParaRPr lang="en-US" sz="1200" dirty="0"/>
          </a:p>
        </p:txBody>
      </p:sp>
      <p:sp>
        <p:nvSpPr>
          <p:cNvPr id="14" name="Text 10"/>
          <p:cNvSpPr txBox="1"/>
          <p:nvPr/>
        </p:nvSpPr>
        <p:spPr>
          <a:xfrm>
            <a:off x="6355080" y="2496312"/>
            <a:ext cx="950976" cy="329184"/>
          </a:xfrm>
          <a:prstGeom prst="roundRect">
            <a:avLst>
              <a:gd name="adj" fmla="val 22222"/>
            </a:avLst>
          </a:prstGeom>
          <a:solidFill>
            <a:srgbClr val="F2F2F0"/>
          </a:solidFill>
          <a:ln/>
        </p:spPr>
        <p:txBody>
          <a:bodyPr wrap="square" lIns="0" tIns="0" rIns="0" bIns="0" rtlCol="0" anchor="ctr"/>
          <a:lstStyle/>
          <a:p>
            <a:pPr algn="ctr" indent="0" marL="0">
              <a:buNone/>
            </a:pPr>
            <a:r>
              <a:rPr lang="en-US" sz="1200" b="1" dirty="0">
                <a:solidFill>
                  <a:srgbClr val="52514E"/>
                </a:solidFill>
                <a:latin typeface="Calibri" pitchFamily="34" charset="0"/>
                <a:ea typeface="Calibri" pitchFamily="34" charset="-122"/>
                <a:cs typeface="Calibri" pitchFamily="34" charset="-120"/>
              </a:rPr>
              <a:t>campaign</a:t>
            </a:r>
            <a:endParaRPr lang="en-US" sz="1200" dirty="0"/>
          </a:p>
        </p:txBody>
      </p:sp>
      <p:sp>
        <p:nvSpPr>
          <p:cNvPr id="15" name="Text 11"/>
          <p:cNvSpPr txBox="1"/>
          <p:nvPr/>
        </p:nvSpPr>
        <p:spPr>
          <a:xfrm>
            <a:off x="7415784" y="2496312"/>
            <a:ext cx="662940" cy="329184"/>
          </a:xfrm>
          <a:prstGeom prst="roundRect">
            <a:avLst>
              <a:gd name="adj" fmla="val 22222"/>
            </a:avLst>
          </a:prstGeom>
          <a:solidFill>
            <a:srgbClr val="F2F2F0"/>
          </a:solidFill>
          <a:ln/>
        </p:spPr>
        <p:txBody>
          <a:bodyPr wrap="square" lIns="0" tIns="0" rIns="0" bIns="0" rtlCol="0" anchor="ctr"/>
          <a:lstStyle/>
          <a:p>
            <a:pPr algn="ctr" indent="0" marL="0">
              <a:buNone/>
            </a:pPr>
            <a:r>
              <a:rPr lang="en-US" sz="1200" b="1" dirty="0">
                <a:solidFill>
                  <a:srgbClr val="52514E"/>
                </a:solidFill>
                <a:latin typeface="Calibri" pitchFamily="34" charset="0"/>
                <a:ea typeface="Calibri" pitchFamily="34" charset="-122"/>
                <a:cs typeface="Calibri" pitchFamily="34" charset="-120"/>
              </a:rPr>
              <a:t>month</a:t>
            </a:r>
            <a:endParaRPr lang="en-US" sz="1200" dirty="0"/>
          </a:p>
        </p:txBody>
      </p:sp>
      <p:sp>
        <p:nvSpPr>
          <p:cNvPr id="16" name="Text 12"/>
          <p:cNvSpPr txBox="1"/>
          <p:nvPr/>
        </p:nvSpPr>
        <p:spPr>
          <a:xfrm>
            <a:off x="6355080" y="2971800"/>
            <a:ext cx="5287975" cy="45720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Macro-economy (employment, Euribor) dominates, then contact channel, number of calls and month.</a:t>
            </a:r>
            <a:endParaRPr lang="en-US" sz="1250" dirty="0"/>
          </a:p>
        </p:txBody>
      </p:sp>
      <p:sp>
        <p:nvSpPr>
          <p:cNvPr id="17" name="Text 13"/>
          <p:cNvSpPr txBox="1"/>
          <p:nvPr/>
        </p:nvSpPr>
        <p:spPr>
          <a:xfrm>
            <a:off x="6355080" y="3611880"/>
            <a:ext cx="5287975"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Recommendations for the bank</a:t>
            </a:r>
            <a:endParaRPr lang="en-US" sz="1600" dirty="0"/>
          </a:p>
        </p:txBody>
      </p:sp>
      <p:sp>
        <p:nvSpPr>
          <p:cNvPr id="18" name="Text 14"/>
          <p:cNvSpPr txBox="1"/>
          <p:nvPr/>
        </p:nvSpPr>
        <p:spPr>
          <a:xfrm>
            <a:off x="6355080" y="4087368"/>
            <a:ext cx="384048" cy="384048"/>
          </a:xfrm>
          <a:prstGeom prst="ellipse">
            <a:avLst/>
          </a:prstGeom>
          <a:solidFill>
            <a:srgbClr val="EB683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9" name="Text 15"/>
          <p:cNvSpPr txBox="1"/>
          <p:nvPr/>
        </p:nvSpPr>
        <p:spPr>
          <a:xfrm>
            <a:off x="6885432" y="4069080"/>
            <a:ext cx="4757623" cy="713232"/>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Call by model score</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Work down the ranked list; stop where call cost exceeds expected deposit value.</a:t>
            </a:r>
            <a:endParaRPr lang="en-US" sz="1300" dirty="0"/>
          </a:p>
        </p:txBody>
      </p:sp>
      <p:sp>
        <p:nvSpPr>
          <p:cNvPr id="20" name="Text 16"/>
          <p:cNvSpPr txBox="1"/>
          <p:nvPr/>
        </p:nvSpPr>
        <p:spPr>
          <a:xfrm>
            <a:off x="6355080" y="4818888"/>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1" name="Text 17"/>
          <p:cNvSpPr txBox="1"/>
          <p:nvPr/>
        </p:nvSpPr>
        <p:spPr>
          <a:xfrm>
            <a:off x="6885432" y="4800600"/>
            <a:ext cx="4757623" cy="713232"/>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Re-target past successes</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Previous-campaign successes convert at 65% (vs 11% overall).</a:t>
            </a:r>
            <a:endParaRPr lang="en-US" sz="1300" dirty="0"/>
          </a:p>
        </p:txBody>
      </p:sp>
      <p:sp>
        <p:nvSpPr>
          <p:cNvPr id="22" name="Text 18"/>
          <p:cNvSpPr txBox="1"/>
          <p:nvPr/>
        </p:nvSpPr>
        <p:spPr>
          <a:xfrm>
            <a:off x="6355080" y="5550408"/>
            <a:ext cx="384048" cy="384048"/>
          </a:xfrm>
          <a:prstGeom prst="ellipse">
            <a:avLst/>
          </a:prstGeom>
          <a:solidFill>
            <a:srgbClr val="2A78D6"/>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19"/>
          <p:cNvSpPr txBox="1"/>
          <p:nvPr/>
        </p:nvSpPr>
        <p:spPr>
          <a:xfrm>
            <a:off x="6885432" y="5532120"/>
            <a:ext cx="4757623" cy="713232"/>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Use mobile, cap repeat calls</a:t>
            </a:r>
            <a:endParaRPr lang="en-US" sz="1300" dirty="0"/>
          </a:p>
          <a:p>
            <a:pPr indent="0" marL="0">
              <a:buNone/>
            </a:pPr>
            <a:r>
              <a:rPr lang="en-US" sz="1300" dirty="0">
                <a:solidFill>
                  <a:srgbClr val="52514E"/>
                </a:solidFill>
                <a:latin typeface="Calibri" pitchFamily="34" charset="0"/>
                <a:ea typeface="Calibri" pitchFamily="34" charset="-122"/>
                <a:cs typeface="Calibri" pitchFamily="34" charset="-120"/>
              </a:rPr>
              <a:t>Cellular beats landline; each extra call in a campaign lowers the success rate.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D"/>
        </a:solidFill>
      </p:bgPr>
    </p:bg>
    <p:spTree>
      <p:nvGrpSpPr>
        <p:cNvPr id="1" name=""/>
        <p:cNvGrpSpPr/>
        <p:nvPr/>
      </p:nvGrpSpPr>
      <p:grpSpPr>
        <a:xfrm>
          <a:off x="0" y="0"/>
          <a:ext cx="0" cy="0"/>
          <a:chOff x="0" y="0"/>
          <a:chExt cx="0" cy="0"/>
        </a:xfrm>
      </p:grpSpPr>
      <p:sp>
        <p:nvSpPr>
          <p:cNvPr id="2" name="Text 0"/>
          <p:cNvSpPr txBox="1"/>
          <p:nvPr/>
        </p:nvSpPr>
        <p:spPr>
          <a:xfrm>
            <a:off x="548640" y="292608"/>
            <a:ext cx="5394960" cy="292608"/>
          </a:xfrm>
          <a:prstGeom prst="roundRect">
            <a:avLst>
              <a:gd name="adj" fmla="val 25000"/>
            </a:avLst>
          </a:prstGeom>
          <a:solidFill>
            <a:srgbClr val="1B2F55"/>
          </a:solidFill>
          <a:ln/>
        </p:spPr>
        <p:txBody>
          <a:bodyPr wrap="square" lIns="0" tIns="101600" rIns="101600" bIns="0" rtlCol="0" anchor="ctr"/>
          <a:lstStyle/>
          <a:p>
            <a:pPr indent="0" marL="0">
              <a:buNone/>
            </a:pPr>
            <a:r>
              <a:rPr lang="en-US" sz="1100" b="1" dirty="0">
                <a:solidFill>
                  <a:srgbClr val="B7D3F6"/>
                </a:solidFill>
                <a:latin typeface="Calibri" pitchFamily="34" charset="0"/>
                <a:ea typeface="Calibri" pitchFamily="34" charset="-122"/>
                <a:cs typeface="Calibri" pitchFamily="34" charset="-120"/>
              </a:rPr>
              <a:t>Rubric 5 · Result Interpretation &amp; Presentation · 4 marks</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Conclusion, limitations and next steps</a:t>
            </a:r>
            <a:endParaRPr lang="en-US" sz="3000" dirty="0"/>
          </a:p>
        </p:txBody>
      </p:sp>
      <p:sp>
        <p:nvSpPr>
          <p:cNvPr id="4" name="Shape 2"/>
          <p:cNvSpPr/>
          <p:nvPr/>
        </p:nvSpPr>
        <p:spPr>
          <a:xfrm>
            <a:off x="548640" y="1645920"/>
            <a:ext cx="3515258" cy="3840480"/>
          </a:xfrm>
          <a:prstGeom prst="roundRect">
            <a:avLst>
              <a:gd name="adj" fmla="val 2601"/>
            </a:avLst>
          </a:prstGeom>
          <a:solidFill>
            <a:srgbClr val="1B2F55"/>
          </a:solidFill>
          <a:ln w="12700">
            <a:solidFill>
              <a:srgbClr val="1B2F55"/>
            </a:solidFill>
            <a:prstDash val="solid"/>
          </a:ln>
        </p:spPr>
      </p:sp>
      <p:sp>
        <p:nvSpPr>
          <p:cNvPr id="5" name="Text 3"/>
          <p:cNvSpPr txBox="1"/>
          <p:nvPr/>
        </p:nvSpPr>
        <p:spPr>
          <a:xfrm>
            <a:off x="822960" y="1828800"/>
            <a:ext cx="2966618" cy="411480"/>
          </a:xfrm>
          <a:prstGeom prst="rect">
            <a:avLst/>
          </a:prstGeom>
          <a:noFill/>
          <a:ln/>
        </p:spPr>
        <p:txBody>
          <a:bodyPr wrap="square" lIns="0" tIns="0" rIns="0" bIns="0" rtlCol="0" anchor="ctr"/>
          <a:lstStyle/>
          <a:p>
            <a:pPr indent="0" marL="0">
              <a:buNone/>
            </a:pPr>
            <a:r>
              <a:rPr lang="en-US" sz="1800" b="1" dirty="0">
                <a:solidFill>
                  <a:srgbClr val="B7D3F6"/>
                </a:solidFill>
                <a:latin typeface="Arial" pitchFamily="34" charset="0"/>
                <a:ea typeface="Arial" pitchFamily="34" charset="-122"/>
                <a:cs typeface="Arial" pitchFamily="34" charset="-120"/>
              </a:rPr>
              <a:t>What we found</a:t>
            </a:r>
            <a:endParaRPr lang="en-US" sz="1800" dirty="0"/>
          </a:p>
        </p:txBody>
      </p:sp>
      <p:sp>
        <p:nvSpPr>
          <p:cNvPr id="6" name="Text 4"/>
          <p:cNvSpPr txBox="1"/>
          <p:nvPr/>
        </p:nvSpPr>
        <p:spPr>
          <a:xfrm>
            <a:off x="822960" y="2377440"/>
            <a:ext cx="2966618" cy="3017520"/>
          </a:xfrm>
          <a:prstGeom prst="rect">
            <a:avLst/>
          </a:prstGeom>
          <a:noFill/>
          <a:ln/>
        </p:spPr>
        <p:txBody>
          <a:bodyPr wrap="square" lIns="0" tIns="0" rIns="0" bIns="0" rtlCol="0" anchor="t"/>
          <a:lstStyle/>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Apps: installs concentrate in Games &amp; Communication; free apps dominate; maintained apps rate higher.</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Games: hit-driven, peaked in 2008; NA is half the market, Japan prefers RPGs.</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Regression: tuned XGBoost, RMSE 3.17 MW, R² 0.966 (−31% error vs linear).</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Classification: weighted XGBoost, F1 0.53, ROC-AUC 0.812, 3.3× lift in the top 20%.</a:t>
            </a:r>
            <a:endParaRPr lang="en-US" sz="1350" dirty="0"/>
          </a:p>
        </p:txBody>
      </p:sp>
      <p:sp>
        <p:nvSpPr>
          <p:cNvPr id="7" name="Shape 5"/>
          <p:cNvSpPr/>
          <p:nvPr/>
        </p:nvSpPr>
        <p:spPr>
          <a:xfrm>
            <a:off x="4338218" y="1645920"/>
            <a:ext cx="3515258" cy="3840480"/>
          </a:xfrm>
          <a:prstGeom prst="roundRect">
            <a:avLst>
              <a:gd name="adj" fmla="val 2601"/>
            </a:avLst>
          </a:prstGeom>
          <a:solidFill>
            <a:srgbClr val="1B2F55"/>
          </a:solidFill>
          <a:ln w="12700">
            <a:solidFill>
              <a:srgbClr val="1B2F55"/>
            </a:solidFill>
            <a:prstDash val="solid"/>
          </a:ln>
        </p:spPr>
      </p:sp>
      <p:sp>
        <p:nvSpPr>
          <p:cNvPr id="8" name="Text 6"/>
          <p:cNvSpPr txBox="1"/>
          <p:nvPr/>
        </p:nvSpPr>
        <p:spPr>
          <a:xfrm>
            <a:off x="4612538" y="1828800"/>
            <a:ext cx="2966618" cy="411480"/>
          </a:xfrm>
          <a:prstGeom prst="rect">
            <a:avLst/>
          </a:prstGeom>
          <a:noFill/>
          <a:ln/>
        </p:spPr>
        <p:txBody>
          <a:bodyPr wrap="square" lIns="0" tIns="0" rIns="0" bIns="0" rtlCol="0" anchor="ctr"/>
          <a:lstStyle/>
          <a:p>
            <a:pPr indent="0" marL="0">
              <a:buNone/>
            </a:pPr>
            <a:r>
              <a:rPr lang="en-US" sz="1800" b="1" dirty="0">
                <a:solidFill>
                  <a:srgbClr val="EB6834"/>
                </a:solidFill>
                <a:latin typeface="Arial" pitchFamily="34" charset="0"/>
                <a:ea typeface="Arial" pitchFamily="34" charset="-122"/>
                <a:cs typeface="Arial" pitchFamily="34" charset="-120"/>
              </a:rPr>
              <a:t>Limitations</a:t>
            </a:r>
            <a:endParaRPr lang="en-US" sz="1800" dirty="0"/>
          </a:p>
        </p:txBody>
      </p:sp>
      <p:sp>
        <p:nvSpPr>
          <p:cNvPr id="9" name="Text 7"/>
          <p:cNvSpPr txBox="1"/>
          <p:nvPr/>
        </p:nvSpPr>
        <p:spPr>
          <a:xfrm>
            <a:off x="4612538" y="2377440"/>
            <a:ext cx="2966618" cy="3017520"/>
          </a:xfrm>
          <a:prstGeom prst="rect">
            <a:avLst/>
          </a:prstGeom>
          <a:noFill/>
          <a:ln/>
        </p:spPr>
        <p:txBody>
          <a:bodyPr wrap="square" lIns="0" tIns="0" rIns="0" bIns="0" rtlCol="0" anchor="t"/>
          <a:lstStyle/>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Play Store data is a 2018 snapshot; ratings are self-selected.</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Game sales count boxed retail only; post-2012 sales are under-counted.</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Bank data (2008–2010) spans the financial crisis; macro effects may not transfer.</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Only XGBoost was tuned; other models use sensible defaults.</a:t>
            </a:r>
            <a:endParaRPr lang="en-US" sz="1350" dirty="0"/>
          </a:p>
        </p:txBody>
      </p:sp>
      <p:sp>
        <p:nvSpPr>
          <p:cNvPr id="10" name="Shape 8"/>
          <p:cNvSpPr/>
          <p:nvPr/>
        </p:nvSpPr>
        <p:spPr>
          <a:xfrm>
            <a:off x="8127797" y="1645920"/>
            <a:ext cx="3515258" cy="3840480"/>
          </a:xfrm>
          <a:prstGeom prst="roundRect">
            <a:avLst>
              <a:gd name="adj" fmla="val 2601"/>
            </a:avLst>
          </a:prstGeom>
          <a:solidFill>
            <a:srgbClr val="1B2F55"/>
          </a:solidFill>
          <a:ln w="12700">
            <a:solidFill>
              <a:srgbClr val="1B2F55"/>
            </a:solidFill>
            <a:prstDash val="solid"/>
          </a:ln>
        </p:spPr>
      </p:sp>
      <p:sp>
        <p:nvSpPr>
          <p:cNvPr id="11" name="Text 9"/>
          <p:cNvSpPr txBox="1"/>
          <p:nvPr/>
        </p:nvSpPr>
        <p:spPr>
          <a:xfrm>
            <a:off x="8402117" y="1828800"/>
            <a:ext cx="2966618" cy="411480"/>
          </a:xfrm>
          <a:prstGeom prst="rect">
            <a:avLst/>
          </a:prstGeom>
          <a:noFill/>
          <a:ln/>
        </p:spPr>
        <p:txBody>
          <a:bodyPr wrap="square" lIns="0" tIns="0" rIns="0" bIns="0" rtlCol="0" anchor="ctr"/>
          <a:lstStyle/>
          <a:p>
            <a:pPr indent="0" marL="0">
              <a:buNone/>
            </a:pPr>
            <a:r>
              <a:rPr lang="en-US" sz="1800" b="1" dirty="0">
                <a:solidFill>
                  <a:srgbClr val="B7D3F6"/>
                </a:solidFill>
                <a:latin typeface="Arial" pitchFamily="34" charset="0"/>
                <a:ea typeface="Arial" pitchFamily="34" charset="-122"/>
                <a:cs typeface="Arial" pitchFamily="34" charset="-120"/>
              </a:rPr>
              <a:t>Next steps (PBL 2)</a:t>
            </a:r>
            <a:endParaRPr lang="en-US" sz="1800" dirty="0"/>
          </a:p>
        </p:txBody>
      </p:sp>
      <p:sp>
        <p:nvSpPr>
          <p:cNvPr id="12" name="Text 10"/>
          <p:cNvSpPr txBox="1"/>
          <p:nvPr/>
        </p:nvSpPr>
        <p:spPr>
          <a:xfrm>
            <a:off x="8402117" y="2377440"/>
            <a:ext cx="2966618" cy="3017520"/>
          </a:xfrm>
          <a:prstGeom prst="rect">
            <a:avLst/>
          </a:prstGeom>
          <a:noFill/>
          <a:ln/>
        </p:spPr>
        <p:txBody>
          <a:bodyPr wrap="square" lIns="0" tIns="0" rIns="0" bIns="0" rtlCol="0" anchor="t"/>
          <a:lstStyle/>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Hyper-parameter tuning for all top models; SHAP explanations.</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Cost-sensitive threshold using call cost vs deposit value.</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Time-based validation for the bank campaign.</a:t>
            </a:r>
            <a:endParaRPr lang="en-US" sz="1350" dirty="0"/>
          </a:p>
          <a:p>
            <a:pPr marL="203200" indent="-203200">
              <a:spcAft>
                <a:spcPts val="700"/>
              </a:spcAft>
              <a:buSzPct val="100000"/>
              <a:buChar char="•"/>
            </a:pPr>
            <a:r>
              <a:rPr lang="en-US" sz="1350" dirty="0">
                <a:solidFill>
                  <a:srgbClr val="E6ECF5"/>
                </a:solidFill>
                <a:latin typeface="Calibri" pitchFamily="34" charset="0"/>
                <a:ea typeface="Calibri" pitchFamily="34" charset="-122"/>
                <a:cs typeface="Calibri" pitchFamily="34" charset="-120"/>
              </a:rPr>
              <a:t>Package the best models into a simple prediction app.</a:t>
            </a:r>
            <a:endParaRPr lang="en-US" sz="1350" dirty="0"/>
          </a:p>
        </p:txBody>
      </p:sp>
      <p:sp>
        <p:nvSpPr>
          <p:cNvPr id="13" name="Text 11"/>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B7D3F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F3D"/>
        </a:solidFill>
      </p:bgPr>
    </p:bg>
    <p:spTree>
      <p:nvGrpSpPr>
        <p:cNvPr id="1" name=""/>
        <p:cNvGrpSpPr/>
        <p:nvPr/>
      </p:nvGrpSpPr>
      <p:grpSpPr>
        <a:xfrm>
          <a:off x="0" y="0"/>
          <a:ext cx="0" cy="0"/>
          <a:chOff x="0" y="0"/>
          <a:chExt cx="0" cy="0"/>
        </a:xfrm>
      </p:grpSpPr>
      <p:sp>
        <p:nvSpPr>
          <p:cNvPr id="2" name="Text 0"/>
          <p:cNvSpPr txBox="1"/>
          <p:nvPr/>
        </p:nvSpPr>
        <p:spPr>
          <a:xfrm>
            <a:off x="548640" y="2103120"/>
            <a:ext cx="11094415"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3" name="Text 1"/>
          <p:cNvSpPr txBox="1"/>
          <p:nvPr/>
        </p:nvSpPr>
        <p:spPr>
          <a:xfrm>
            <a:off x="548640" y="3200400"/>
            <a:ext cx="11094415" cy="640080"/>
          </a:xfrm>
          <a:prstGeom prst="rect">
            <a:avLst/>
          </a:prstGeom>
          <a:noFill/>
          <a:ln/>
        </p:spPr>
        <p:txBody>
          <a:bodyPr wrap="square" lIns="0" tIns="0" rIns="0" bIns="0" rtlCol="0" anchor="ctr"/>
          <a:lstStyle/>
          <a:p>
            <a:pPr indent="0" marL="0">
              <a:buNone/>
            </a:pPr>
            <a:r>
              <a:rPr lang="en-US" sz="2600" dirty="0">
                <a:solidFill>
                  <a:srgbClr val="B7D3F6"/>
                </a:solidFill>
                <a:latin typeface="Calibri" pitchFamily="34" charset="0"/>
                <a:ea typeface="Calibri" pitchFamily="34" charset="-122"/>
                <a:cs typeface="Calibri" pitchFamily="34" charset="-120"/>
              </a:rPr>
              <a:t>Questions?</a:t>
            </a:r>
            <a:endParaRPr lang="en-US" sz="2600" dirty="0"/>
          </a:p>
        </p:txBody>
      </p:sp>
      <p:sp>
        <p:nvSpPr>
          <p:cNvPr id="4" name="Text 2"/>
          <p:cNvSpPr txBox="1"/>
          <p:nvPr/>
        </p:nvSpPr>
        <p:spPr>
          <a:xfrm>
            <a:off x="548640" y="4754880"/>
            <a:ext cx="11094415"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Group 10  ·  Sanskriti Rastogi  ·  Sahil Raj  ·  Yash Santosh Lohare  ·  Om Pathania</a:t>
            </a:r>
            <a:endParaRPr lang="en-US" sz="1500" dirty="0"/>
          </a:p>
        </p:txBody>
      </p:sp>
      <p:sp>
        <p:nvSpPr>
          <p:cNvPr id="5" name="Text 3"/>
          <p:cNvSpPr txBox="1"/>
          <p:nvPr/>
        </p:nvSpPr>
        <p:spPr>
          <a:xfrm>
            <a:off x="548640" y="5166360"/>
            <a:ext cx="11094415" cy="365760"/>
          </a:xfrm>
          <a:prstGeom prst="rect">
            <a:avLst/>
          </a:prstGeom>
          <a:noFill/>
          <a:ln/>
        </p:spPr>
        <p:txBody>
          <a:bodyPr wrap="square" lIns="0" tIns="0" rIns="0" bIns="0" rtlCol="0" anchor="ctr"/>
          <a:lstStyle/>
          <a:p>
            <a:pPr indent="0" marL="0">
              <a:buNone/>
            </a:pPr>
            <a:r>
              <a:rPr lang="en-US" sz="1300" dirty="0">
                <a:solidFill>
                  <a:srgbClr val="B7D3F6"/>
                </a:solidFill>
                <a:latin typeface="Calibri" pitchFamily="34" charset="0"/>
                <a:ea typeface="Calibri" pitchFamily="34" charset="-122"/>
                <a:cs typeface="Calibri" pitchFamily="34" charset="-120"/>
              </a:rPr>
              <a:t>Code: 4 Jupyter notebooks (EDA × 2, regression, classification) · Python, pandas, scikit-learn, XGBoost, imbalanced-learn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 Ecosystem Dynamics and Direct Bank Marketing Pipelines</dc:title>
  <dc:subject>PptxGenJS Presentation</dc:subject>
  <dc:creator>Group 10</dc:creator>
  <cp:lastModifiedBy>Group 10</cp:lastModifiedBy>
  <cp:revision>1</cp:revision>
  <dcterms:created xsi:type="dcterms:W3CDTF">2026-09-27T14:52:10Z</dcterms:created>
  <dcterms:modified xsi:type="dcterms:W3CDTF">2026-09-27T14:52:10Z</dcterms:modified>
</cp:coreProperties>
</file>